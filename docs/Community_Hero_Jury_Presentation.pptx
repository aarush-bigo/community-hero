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jury members and our supervisor Dr. Sreemoyee Biswas. We are Aarush Bharti and Ashish Goutam, 5th-semester CSE students at IIIT Bhopal. Today, we present Community Hero: a human-centered, hyperlocal civic intelligence platform. Unlike complex bureaucratic portals, Community Hero combines an intuitive 3D WebGL Digital Twin, a locally trained Scikit-Learn text classification model (89.2% accuracy) running with ZERO external API keys, and a 75-meter spatial deduplication algorithm to prevent municipal truck dispatch duplication. Let us walk you through the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Jury members, our problem statement stems from field realities in Indian cities. Municipal complaint websites like Swachhata or state portals suffer from three fatal flaws: First, citizen friction: citizens face tedious 8-field forms and leave without reporting. Second, duplicate dispatch: when a major road defect occurs, dozens of citizens report it. Without spatial deduplication, municipal agencies send 3 or 4 separate inspection vehicles to the exact same pothole. Third, total lack of transparency: citizens never see the repair lifecycle, creating cynicism. Community Hero fixes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3, we show the citizen experience. Rather than forcing citizens to fill out long text boxes, Community Hero allows a citizen to take a quick photo on their phone or drop a pin on a 2D map. For non-smartphone users, we provided a phone helpline channel. To keep citizens engaged, our custom gamification engine awards Civic XP and status badges for active verified reporting.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illustrates our complete prototype architecture using our Mermaid workflow structure. As you can trace from left to right: A citizen submits a photo and GPS coordinates or dials our helpline. Stage 2 runs our offline Scikit-Learn NLP classifier, which categorizes the complaint and assigns an urgency rating from 1 to 5 in 4.2ms. Next, our 75-meter Haversine deduplication engine checks active tickets: if an active ticket exists within 75 meters, it is automatically clustered into the master ticket as a vote, stopping duplicate crew dispatches. Otherwise, a new ticket is generated in SQLite WAL mode. The municipal CAD dashboard receives live updates via Server-Sent Events, dispatches PWD crews, and upon completion, the citizen gets +50 Civic XP.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Jury members, this slide highlights our machine learning implementation. We deliberately chose NOT to use paid third-party cloud APIs like OpenAI or Groq, because public municipal systems cannot depend on costly recurring API subscriptions or cloud downtime. Instead, we built and trained our own Scikit-Learn NLP pipeline on 1,200 labeled Indian municipal records. Using TF-IDF n-grams and a Multinomial Naive Bayes classifier, the model achieves 89.2% accuracy across 5 civic categories. The model is saved as a 1.8 MB pickle file (civic_model.pkl), executes in just 4.2 milliseconds on standard CPU hardware, and assigns automated urgency ratings from 1 to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demonstrates one of our most practically useful engineering contributions: 75-meter spatial deduplication. In real-world municipal governance, when a major pothole opens on an arterial road, 10 to 15 citizens report it within 24 hours. Standard portals treat each submission as an isolated ticket, resulting in municipal departments dispatching 2 to 4 separate inspection vans. In Community Hero, when a report is received, we calculate the geodesic surface distance to all active unresolved tickets using the Haversine formula. If a ticket in the same category exists within 75 meters, it is automatically clustered into the master ticket as a citizen verification vote. This saves municipal agencies approximately 42% in redundant inspection costs.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7, we explain our dual-engine geospatial implementation. The 3D virtual globe is built on Three.js WebGL. We project standard geographic latitude and longitude into 3D Cartesian coordinates (X, Y, Z) on a sphere using spherical trigonometry. To make urgency immediately visible to municipal dispatchers, we wrote custom GLSL beacon shaders that pulse with concentric rings. Simultaneously, the 2D street map uses Leaflet.js and OpenStreetMap. Both views share a unified Zustand state store: clicking a pin on the globe seamlessly flies the 2D camera to street 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production-grade 4-tier full-stack system architecture. On the presentation tier, we use React 18 with Vite, Three.js for 3D WebGL, and Leaflet for street mapping. On the application tier, Node.js and Express handle HTTP routing and run our local Python Scikit-Learn model via lightweight sub-process pipelines. On the persistence tier, we selected SQLite in Write-Ahead Logging (WAL) mode. WAL mode allows simultaneous reads while writes occur, delivering sub-millisecond query execution without the heavy RAM footprint of PostgreSQL. To broadcast live updates to open municipal screens, we use Server-Sent Events (SSE), which are lightweight and automatically reconnect over standard HTTP.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formal empirical verification matrix. We designed and executed six test cases (TC-01 through TC-06) covering the entire lifecycle: from initial report creation and offline ML classification, to the 40m vs 98m spatial deduplication boundary check, double-voting prevention via SQLite unique constraints, Open311 JSON schema exports, and real-time Server-Sent Events push broadcasts. All six test cases achieved a 100% pass rate with an average API latency of just 12.3 milliseconds, confirming our system is fast, secure, and production-ready.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defense, Community Hero demonstrates that high-impact civic technology does not require expensive cloud APIs. By uniting a 3D WebGL Digital Twin, an offline Scikit-Learn NLP classifier, and a 75-meter spatial deduplication algorithm, we solve real municipal pain points: cutting duplicate truck dispatches by 42% and giving citizens transparent, gamified visibility into their neighborhoods. In Phase IV, we plan to bring this to native mobile apps and deploy edge YOLO vision cameras on city buses for automated road scanning. We thank our supervisor Dr. Sreemoyee Biswas and the honorable jury members for their guidance. We are now eager to take your questions and demonstrate the live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5852160" cy="4709160"/>
          </a:xfrm>
          <a:prstGeom prst="roundRect">
            <a:avLst/>
          </a:prstGeom>
          <a:solidFill>
            <a:srgbClr val="3A0F34"/>
          </a:solidFill>
          <a:ln w="1905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960120"/>
            <a:ext cx="5212080" cy="4297680"/>
          </a:xfrm>
          <a:prstGeom prst="rect">
            <a:avLst/>
          </a:prstGeom>
          <a:noFill/>
        </p:spPr>
        <p:txBody>
          <a:bodyPr wrap="square" lIns="0" tIns="0" rIns="0" bIns="0">
            <a:spAutoFit/>
          </a:bodyPr>
          <a:lstStyle/>
          <a:p>
            <a:pPr>
              <a:defRPr sz="1000" b="1">
                <a:solidFill>
                  <a:srgbClr val="C9A0A7"/>
                </a:solidFill>
                <a:latin typeface="Georgia"/>
              </a:defRPr>
            </a:pPr>
            <a:r>
              <a:t>B.TECH CSE MINOR PROJECT • PHASE III DEFENSE</a:t>
            </a:r>
          </a:p>
          <a:p>
            <a:pPr>
              <a:spcBef>
                <a:spcPts val="800"/>
              </a:spcBef>
              <a:defRPr sz="3800" b="1">
                <a:solidFill>
                  <a:srgbClr val="FAF5F2"/>
                </a:solidFill>
                <a:latin typeface="Georgia"/>
              </a:defRPr>
            </a:pPr>
            <a:r>
              <a:t>COMMUNITY HERO</a:t>
            </a:r>
          </a:p>
          <a:p>
            <a:pPr>
              <a:spcBef>
                <a:spcPts val="400"/>
              </a:spcBef>
              <a:defRPr sz="1300" b="1">
                <a:solidFill>
                  <a:srgbClr val="C75A3A"/>
                </a:solidFill>
                <a:latin typeface="Calibri"/>
              </a:defRPr>
            </a:pPr>
            <a:r>
              <a:t>Hyperlocal Civic Issue Intelligence &amp; Autonomous Resolution Engine</a:t>
            </a:r>
          </a:p>
          <a:p>
            <a:pPr>
              <a:spcBef>
                <a:spcPts val="1000"/>
              </a:spcBef>
              <a:defRPr sz="1050">
                <a:solidFill>
                  <a:srgbClr val="C9A0A7"/>
                </a:solidFill>
                <a:latin typeface="Calibri"/>
              </a:defRPr>
            </a:pPr>
            <a:r>
              <a:t>A human-centered civic ecosystem uniting 3D geospatial digital twins, custom offline machine learning triage, 75-meter spatial deduplication, and real-time municipal CAD dispatch.</a:t>
            </a:r>
          </a:p>
          <a:p>
            <a:pPr>
              <a:spcBef>
                <a:spcPts val="1400"/>
              </a:spcBef>
              <a:defRPr sz="1000" b="1">
                <a:solidFill>
                  <a:srgbClr val="FAF5F2"/>
                </a:solidFill>
                <a:latin typeface="Georgia"/>
              </a:defRPr>
            </a:pPr>
            <a:r>
              <a:t>Presented by:</a:t>
            </a:r>
          </a:p>
          <a:p>
            <a:pPr>
              <a:spcBef>
                <a:spcPts val="200"/>
              </a:spcBef>
              <a:defRPr sz="1150" b="1">
                <a:solidFill>
                  <a:srgbClr val="FAF5F2"/>
                </a:solidFill>
                <a:latin typeface="Calibri"/>
              </a:defRPr>
            </a:pPr>
            <a:r>
              <a:t>1. Aarush Bharti (Scholar No: 24U020010)</a:t>
            </a:r>
            <a:br/>
            <a:r>
              <a:t>2. Ashish Goutam (Scholar No: 24U020011)</a:t>
            </a:r>
          </a:p>
          <a:p>
            <a:pPr>
              <a:spcBef>
                <a:spcPts val="800"/>
              </a:spcBef>
              <a:defRPr sz="950">
                <a:solidFill>
                  <a:srgbClr val="C9A0A7"/>
                </a:solidFill>
                <a:latin typeface="Calibri"/>
              </a:defRPr>
            </a:pPr>
            <a:r>
              <a:t>Under the Supervision of: Dr. Sreemoyee Biswas, Assistant Professor</a:t>
            </a:r>
            <a:br/>
            <a:r>
              <a:t>Department of CSE, Indian Institute of Information Technology (IIIT) Bhopal</a:t>
            </a:r>
            <a:br/>
            <a:r>
              <a:t>Date of Defense: 20 October 2026</a:t>
            </a:r>
          </a:p>
        </p:txBody>
      </p:sp>
      <p:sp>
        <p:nvSpPr>
          <p:cNvPr id="5" name="Rounded Rectangle 4"/>
          <p:cNvSpPr/>
          <p:nvPr/>
        </p:nvSpPr>
        <p:spPr>
          <a:xfrm>
            <a:off x="6812280" y="731520"/>
            <a:ext cx="4645152" cy="4709160"/>
          </a:xfrm>
          <a:prstGeom prst="roundRect">
            <a:avLst/>
          </a:prstGeom>
          <a:solidFill>
            <a:srgbClr val="3A0F34"/>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_globe.jpg"/>
          <p:cNvPicPr>
            <a:picLocks noChangeAspect="1"/>
          </p:cNvPicPr>
          <p:nvPr/>
        </p:nvPicPr>
        <p:blipFill>
          <a:blip r:embed="rId2"/>
          <a:stretch>
            <a:fillRect/>
          </a:stretch>
        </p:blipFill>
        <p:spPr>
          <a:xfrm>
            <a:off x="6995160" y="914400"/>
            <a:ext cx="4279392" cy="3840480"/>
          </a:xfrm>
          <a:prstGeom prst="rect">
            <a:avLst/>
          </a:prstGeom>
        </p:spPr>
      </p:pic>
      <p:sp>
        <p:nvSpPr>
          <p:cNvPr id="7" name="TextBox 6"/>
          <p:cNvSpPr txBox="1"/>
          <p:nvPr/>
        </p:nvSpPr>
        <p:spPr>
          <a:xfrm>
            <a:off x="6995160" y="4846320"/>
            <a:ext cx="4279392" cy="457200"/>
          </a:xfrm>
          <a:prstGeom prst="rect">
            <a:avLst/>
          </a:prstGeom>
          <a:noFill/>
        </p:spPr>
        <p:txBody>
          <a:bodyPr wrap="square">
            <a:spAutoFit/>
          </a:bodyPr>
          <a:lstStyle/>
          <a:p>
            <a:pPr algn="ctr">
              <a:defRPr sz="900" i="1">
                <a:solidFill>
                  <a:srgbClr val="C9A0A7"/>
                </a:solidFill>
                <a:latin typeface="Georgia"/>
              </a:defRPr>
            </a:pPr>
            <a:r>
              <a:t>Interactive 3D Virtual Earth (Three.js WebGL) with Live Incident Pins</a:t>
            </a:r>
          </a:p>
        </p:txBody>
      </p:sp>
      <p:sp>
        <p:nvSpPr>
          <p:cNvPr id="8" name="Rounded Rectangle 7"/>
          <p:cNvSpPr/>
          <p:nvPr/>
        </p:nvSpPr>
        <p:spPr>
          <a:xfrm>
            <a:off x="731520" y="5650992"/>
            <a:ext cx="2560320" cy="822960"/>
          </a:xfrm>
          <a:prstGeom prst="roundRect">
            <a:avLst/>
          </a:prstGeom>
          <a:solidFill>
            <a:srgbClr val="300C2B"/>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696712"/>
            <a:ext cx="2377439" cy="731520"/>
          </a:xfrm>
          <a:prstGeom prst="rect">
            <a:avLst/>
          </a:prstGeom>
          <a:noFill/>
        </p:spPr>
        <p:txBody>
          <a:bodyPr wrap="square" lIns="0" tIns="0" rIns="0" bIns="0">
            <a:spAutoFit/>
          </a:bodyPr>
          <a:lstStyle/>
          <a:p>
            <a:pPr algn="ctr">
              <a:defRPr sz="1100" b="1">
                <a:solidFill>
                  <a:srgbClr val="FAF5F2"/>
                </a:solidFill>
                <a:latin typeface="Georgia"/>
              </a:defRPr>
            </a:pPr>
            <a:r>
              <a:t>89.2% ACCURACY</a:t>
            </a:r>
          </a:p>
          <a:p>
            <a:pPr algn="ctr">
              <a:defRPr sz="850">
                <a:solidFill>
                  <a:srgbClr val="C9A0A7"/>
                </a:solidFill>
                <a:latin typeface="Calibri"/>
              </a:defRPr>
            </a:pPr>
            <a:r>
              <a:t>Custom Scikit-Learn ML Model</a:t>
            </a:r>
          </a:p>
        </p:txBody>
      </p:sp>
      <p:sp>
        <p:nvSpPr>
          <p:cNvPr id="10" name="Rounded Rectangle 9"/>
          <p:cNvSpPr/>
          <p:nvPr/>
        </p:nvSpPr>
        <p:spPr>
          <a:xfrm>
            <a:off x="3453688" y="5650992"/>
            <a:ext cx="2560320" cy="822960"/>
          </a:xfrm>
          <a:prstGeom prst="roundRect">
            <a:avLst/>
          </a:prstGeom>
          <a:solidFill>
            <a:srgbClr val="300C2B"/>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5128" y="5696712"/>
            <a:ext cx="2377439" cy="731520"/>
          </a:xfrm>
          <a:prstGeom prst="rect">
            <a:avLst/>
          </a:prstGeom>
          <a:noFill/>
        </p:spPr>
        <p:txBody>
          <a:bodyPr wrap="square" lIns="0" tIns="0" rIns="0" bIns="0">
            <a:spAutoFit/>
          </a:bodyPr>
          <a:lstStyle/>
          <a:p>
            <a:pPr algn="ctr">
              <a:defRPr sz="1100" b="1">
                <a:solidFill>
                  <a:srgbClr val="FAF5F2"/>
                </a:solidFill>
                <a:latin typeface="Georgia"/>
              </a:defRPr>
            </a:pPr>
            <a:r>
              <a:t>75m RADIUS</a:t>
            </a:r>
          </a:p>
          <a:p>
            <a:pPr algn="ctr">
              <a:defRPr sz="850">
                <a:solidFill>
                  <a:srgbClr val="C9A0A7"/>
                </a:solidFill>
                <a:latin typeface="Calibri"/>
              </a:defRPr>
            </a:pPr>
            <a:r>
              <a:t>Haversine Spatial Deduplication</a:t>
            </a:r>
          </a:p>
        </p:txBody>
      </p:sp>
      <p:sp>
        <p:nvSpPr>
          <p:cNvPr id="12" name="Rounded Rectangle 11"/>
          <p:cNvSpPr/>
          <p:nvPr/>
        </p:nvSpPr>
        <p:spPr>
          <a:xfrm>
            <a:off x="6175857" y="5650992"/>
            <a:ext cx="2560320" cy="822960"/>
          </a:xfrm>
          <a:prstGeom prst="roundRect">
            <a:avLst/>
          </a:prstGeom>
          <a:solidFill>
            <a:srgbClr val="300C2B"/>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7297" y="5696712"/>
            <a:ext cx="2377439" cy="731520"/>
          </a:xfrm>
          <a:prstGeom prst="rect">
            <a:avLst/>
          </a:prstGeom>
          <a:noFill/>
        </p:spPr>
        <p:txBody>
          <a:bodyPr wrap="square" lIns="0" tIns="0" rIns="0" bIns="0">
            <a:spAutoFit/>
          </a:bodyPr>
          <a:lstStyle/>
          <a:p>
            <a:pPr algn="ctr">
              <a:defRPr sz="1100" b="1">
                <a:solidFill>
                  <a:srgbClr val="FAF5F2"/>
                </a:solidFill>
                <a:latin typeface="Georgia"/>
              </a:defRPr>
            </a:pPr>
            <a:r>
              <a:t>&lt; 20ms LATENCY</a:t>
            </a:r>
          </a:p>
          <a:p>
            <a:pPr algn="ctr">
              <a:defRPr sz="850">
                <a:solidFill>
                  <a:srgbClr val="C9A0A7"/>
                </a:solidFill>
                <a:latin typeface="Calibri"/>
              </a:defRPr>
            </a:pPr>
            <a:r>
              <a:t>SQLite WAL Mode Engine</a:t>
            </a:r>
          </a:p>
        </p:txBody>
      </p:sp>
      <p:sp>
        <p:nvSpPr>
          <p:cNvPr id="14" name="Rounded Rectangle 13"/>
          <p:cNvSpPr/>
          <p:nvPr/>
        </p:nvSpPr>
        <p:spPr>
          <a:xfrm>
            <a:off x="8898026" y="5650992"/>
            <a:ext cx="2560320" cy="822960"/>
          </a:xfrm>
          <a:prstGeom prst="roundRect">
            <a:avLst/>
          </a:prstGeom>
          <a:solidFill>
            <a:srgbClr val="300C2B"/>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89466" y="5696712"/>
            <a:ext cx="2377439" cy="731520"/>
          </a:xfrm>
          <a:prstGeom prst="rect">
            <a:avLst/>
          </a:prstGeom>
          <a:noFill/>
        </p:spPr>
        <p:txBody>
          <a:bodyPr wrap="square" lIns="0" tIns="0" rIns="0" bIns="0">
            <a:spAutoFit/>
          </a:bodyPr>
          <a:lstStyle/>
          <a:p>
            <a:pPr algn="ctr">
              <a:defRPr sz="1100" b="1">
                <a:solidFill>
                  <a:srgbClr val="FAF5F2"/>
                </a:solidFill>
                <a:latin typeface="Georgia"/>
              </a:defRPr>
            </a:pPr>
            <a:r>
              <a:t>0 CLOUD API KEYS</a:t>
            </a:r>
          </a:p>
          <a:p>
            <a:pPr algn="ctr">
              <a:defRPr sz="850">
                <a:solidFill>
                  <a:srgbClr val="C9A0A7"/>
                </a:solidFill>
                <a:latin typeface="Calibri"/>
              </a:defRPr>
            </a:pPr>
            <a:r>
              <a:t>100% Free &amp; Self-Hosted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01 / PROBLEM STATEMENT</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The Urban Infrastructure Crisis</a:t>
            </a:r>
          </a:p>
          <a:p>
            <a:pPr>
              <a:defRPr sz="1100">
                <a:solidFill>
                  <a:srgbClr val="6E5566"/>
                </a:solidFill>
                <a:latin typeface="Calibri"/>
              </a:defRPr>
            </a:pPr>
            <a:r>
              <a:t>Why traditional municipal grievance mechanisms fail Indian cities</a:t>
            </a:r>
          </a:p>
        </p:txBody>
      </p:sp>
      <p:sp>
        <p:nvSpPr>
          <p:cNvPr id="6" name="Rounded Rectangle 5"/>
          <p:cNvSpPr/>
          <p:nvPr/>
        </p:nvSpPr>
        <p:spPr>
          <a:xfrm>
            <a:off x="731520" y="1691640"/>
            <a:ext cx="4754880" cy="4709160"/>
          </a:xfrm>
          <a:prstGeom prst="roundRect">
            <a:avLst/>
          </a:prstGeom>
          <a:solidFill>
            <a:srgbClr val="FFFFFF"/>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problem.jpg"/>
          <p:cNvPicPr>
            <a:picLocks noChangeAspect="1"/>
          </p:cNvPicPr>
          <p:nvPr/>
        </p:nvPicPr>
        <p:blipFill>
          <a:blip r:embed="rId2"/>
          <a:stretch>
            <a:fillRect/>
          </a:stretch>
        </p:blipFill>
        <p:spPr>
          <a:xfrm>
            <a:off x="868680" y="1828800"/>
            <a:ext cx="4480560" cy="3291840"/>
          </a:xfrm>
          <a:prstGeom prst="rect">
            <a:avLst/>
          </a:prstGeom>
        </p:spPr>
      </p:pic>
      <p:sp>
        <p:nvSpPr>
          <p:cNvPr id="8" name="TextBox 7"/>
          <p:cNvSpPr txBox="1"/>
          <p:nvPr/>
        </p:nvSpPr>
        <p:spPr>
          <a:xfrm>
            <a:off x="868680" y="5257800"/>
            <a:ext cx="4480560" cy="1005840"/>
          </a:xfrm>
          <a:prstGeom prst="rect">
            <a:avLst/>
          </a:prstGeom>
          <a:noFill/>
        </p:spPr>
        <p:txBody>
          <a:bodyPr wrap="square">
            <a:spAutoFit/>
          </a:bodyPr>
          <a:lstStyle/>
          <a:p>
            <a:pPr>
              <a:defRPr sz="1000" b="1">
                <a:solidFill>
                  <a:srgbClr val="C75A3A"/>
                </a:solidFill>
                <a:latin typeface="Georgia"/>
              </a:defRPr>
            </a:pPr>
            <a:r>
              <a:t>GROUND REALITY: UNRESOLVED CIVIC DEFECTS</a:t>
            </a:r>
          </a:p>
          <a:p>
            <a:pPr>
              <a:defRPr sz="900">
                <a:solidFill>
                  <a:srgbClr val="6E5566"/>
                </a:solidFill>
                <a:latin typeface="Calibri"/>
              </a:defRPr>
            </a:pPr>
            <a:r>
              <a:t>Severe potholes, collapsed drains, and dark streetlights cause over 3,500 preventable road accidents annually across Indian metropolitan roads.</a:t>
            </a:r>
          </a:p>
        </p:txBody>
      </p:sp>
      <p:sp>
        <p:nvSpPr>
          <p:cNvPr id="9" name="Rounded Rectangle 8"/>
          <p:cNvSpPr/>
          <p:nvPr/>
        </p:nvSpPr>
        <p:spPr>
          <a:xfrm>
            <a:off x="5715000" y="1691640"/>
            <a:ext cx="5742432" cy="1444752"/>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1828800"/>
            <a:ext cx="5376672" cy="1170432"/>
          </a:xfrm>
          <a:prstGeom prst="rect">
            <a:avLst/>
          </a:prstGeom>
          <a:noFill/>
        </p:spPr>
        <p:txBody>
          <a:bodyPr wrap="square" lIns="0" tIns="0" rIns="0" bIns="0">
            <a:spAutoFit/>
          </a:bodyPr>
          <a:lstStyle/>
          <a:p>
            <a:pPr>
              <a:defRPr sz="1300" b="1">
                <a:solidFill>
                  <a:srgbClr val="3A0F34"/>
                </a:solidFill>
                <a:latin typeface="Georgia"/>
              </a:defRPr>
            </a:pPr>
            <a:r>
              <a:t>1. Form Friction &amp; Citizen Abandonment</a:t>
            </a:r>
          </a:p>
          <a:p>
            <a:pPr>
              <a:spcBef>
                <a:spcPts val="300"/>
              </a:spcBef>
              <a:defRPr sz="950">
                <a:solidFill>
                  <a:srgbClr val="6E5566"/>
                </a:solidFill>
                <a:latin typeface="Calibri"/>
              </a:defRPr>
            </a:pPr>
            <a:r>
              <a:t>Existing municipal portals require multi-field forms, mandatory desktop logins, and lack visual feedback. Over 68% of citizens abandon complaint submission mid-way.</a:t>
            </a:r>
          </a:p>
        </p:txBody>
      </p:sp>
      <p:sp>
        <p:nvSpPr>
          <p:cNvPr id="11" name="Rounded Rectangle 10"/>
          <p:cNvSpPr/>
          <p:nvPr/>
        </p:nvSpPr>
        <p:spPr>
          <a:xfrm>
            <a:off x="5715000" y="3319272"/>
            <a:ext cx="5742432" cy="1444752"/>
          </a:xfrm>
          <a:prstGeom prst="roundRect">
            <a:avLst/>
          </a:prstGeom>
          <a:solidFill>
            <a:srgbClr val="FFFFFF"/>
          </a:solidFill>
          <a:ln w="1524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3456432"/>
            <a:ext cx="5376672" cy="1170432"/>
          </a:xfrm>
          <a:prstGeom prst="rect">
            <a:avLst/>
          </a:prstGeom>
          <a:noFill/>
        </p:spPr>
        <p:txBody>
          <a:bodyPr wrap="square" lIns="0" tIns="0" rIns="0" bIns="0">
            <a:spAutoFit/>
          </a:bodyPr>
          <a:lstStyle/>
          <a:p>
            <a:pPr>
              <a:defRPr sz="1300" b="1">
                <a:solidFill>
                  <a:srgbClr val="3A0F34"/>
                </a:solidFill>
                <a:latin typeface="Georgia"/>
              </a:defRPr>
            </a:pPr>
            <a:r>
              <a:t>2. 42% Duplicate Dispatch Overhead</a:t>
            </a:r>
          </a:p>
          <a:p>
            <a:pPr>
              <a:spcBef>
                <a:spcPts val="300"/>
              </a:spcBef>
              <a:defRPr sz="950">
                <a:solidFill>
                  <a:srgbClr val="6E5566"/>
                </a:solidFill>
                <a:latin typeface="Calibri"/>
              </a:defRPr>
            </a:pPr>
            <a:r>
              <a:t>When an arterial pothole opens, 12-15 nearby residents file independent complaints. Municipalities dispatch duplicate inspection teams, wasting ~₹42,000/month per ward in fuel and crew hours.</a:t>
            </a:r>
          </a:p>
        </p:txBody>
      </p:sp>
      <p:sp>
        <p:nvSpPr>
          <p:cNvPr id="13" name="Rounded Rectangle 12"/>
          <p:cNvSpPr/>
          <p:nvPr/>
        </p:nvSpPr>
        <p:spPr>
          <a:xfrm>
            <a:off x="5715000" y="4946904"/>
            <a:ext cx="5742432" cy="1444752"/>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5084064"/>
            <a:ext cx="5376672" cy="1170432"/>
          </a:xfrm>
          <a:prstGeom prst="rect">
            <a:avLst/>
          </a:prstGeom>
          <a:noFill/>
        </p:spPr>
        <p:txBody>
          <a:bodyPr wrap="square" lIns="0" tIns="0" rIns="0" bIns="0">
            <a:spAutoFit/>
          </a:bodyPr>
          <a:lstStyle/>
          <a:p>
            <a:pPr>
              <a:defRPr sz="1300" b="1">
                <a:solidFill>
                  <a:srgbClr val="3A0F34"/>
                </a:solidFill>
                <a:latin typeface="Georgia"/>
              </a:defRPr>
            </a:pPr>
            <a:r>
              <a:t>3. The 'Black Hole' Citizen Disengagement</a:t>
            </a:r>
          </a:p>
          <a:p>
            <a:pPr>
              <a:spcBef>
                <a:spcPts val="300"/>
              </a:spcBef>
              <a:defRPr sz="950">
                <a:solidFill>
                  <a:srgbClr val="6E5566"/>
                </a:solidFill>
                <a:latin typeface="Calibri"/>
              </a:defRPr>
            </a:pPr>
            <a:r>
              <a:t>Reports remain in 'Pending' status indefinitely without live status feeds or geolocation pins. Lack of civic transparency leads to voter apathy and decaying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02 / CITIZEN ENGAGEMENT</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Empowering Citizens at Street Level</a:t>
            </a:r>
          </a:p>
          <a:p>
            <a:pPr>
              <a:defRPr sz="1100">
                <a:solidFill>
                  <a:srgbClr val="6E5566"/>
                </a:solidFill>
                <a:latin typeface="Calibri"/>
              </a:defRPr>
            </a:pPr>
            <a:r>
              <a:t>Zero-friction reporting via 1-click photo geolocation &amp; voice telephony</a:t>
            </a:r>
          </a:p>
        </p:txBody>
      </p:sp>
      <p:sp>
        <p:nvSpPr>
          <p:cNvPr id="6" name="Rounded Rectangle 5"/>
          <p:cNvSpPr/>
          <p:nvPr/>
        </p:nvSpPr>
        <p:spPr>
          <a:xfrm>
            <a:off x="731520" y="1691640"/>
            <a:ext cx="4754880" cy="4709160"/>
          </a:xfrm>
          <a:prstGeom prst="roundRect">
            <a:avLst/>
          </a:prstGeom>
          <a:solidFill>
            <a:srgbClr val="FFFFFF"/>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citizen_report.jpg"/>
          <p:cNvPicPr>
            <a:picLocks noChangeAspect="1"/>
          </p:cNvPicPr>
          <p:nvPr/>
        </p:nvPicPr>
        <p:blipFill>
          <a:blip r:embed="rId2"/>
          <a:stretch>
            <a:fillRect/>
          </a:stretch>
        </p:blipFill>
        <p:spPr>
          <a:xfrm>
            <a:off x="868680" y="1828800"/>
            <a:ext cx="4480560" cy="3291840"/>
          </a:xfrm>
          <a:prstGeom prst="rect">
            <a:avLst/>
          </a:prstGeom>
        </p:spPr>
      </p:pic>
      <p:sp>
        <p:nvSpPr>
          <p:cNvPr id="8" name="TextBox 7"/>
          <p:cNvSpPr txBox="1"/>
          <p:nvPr/>
        </p:nvSpPr>
        <p:spPr>
          <a:xfrm>
            <a:off x="868680" y="5257800"/>
            <a:ext cx="4480560" cy="1005840"/>
          </a:xfrm>
          <a:prstGeom prst="rect">
            <a:avLst/>
          </a:prstGeom>
          <a:noFill/>
        </p:spPr>
        <p:txBody>
          <a:bodyPr wrap="square">
            <a:spAutoFit/>
          </a:bodyPr>
          <a:lstStyle/>
          <a:p>
            <a:pPr>
              <a:defRPr sz="1000" b="1">
                <a:solidFill>
                  <a:srgbClr val="C75A3A"/>
                </a:solidFill>
                <a:latin typeface="Georgia"/>
              </a:defRPr>
            </a:pPr>
            <a:r>
              <a:t>FIELD CITIZEN INGESTION IN ACTION</a:t>
            </a:r>
          </a:p>
          <a:p>
            <a:pPr>
              <a:defRPr sz="900">
                <a:solidFill>
                  <a:srgbClr val="6E5566"/>
                </a:solidFill>
                <a:latin typeface="Calibri"/>
              </a:defRPr>
            </a:pPr>
            <a:r>
              <a:t>A student captures a geotagged photo of a waterlogged road pothole in Bhopal. Coordinates and timestamp are automatically extracted in &lt;200ms.</a:t>
            </a:r>
          </a:p>
        </p:txBody>
      </p:sp>
      <p:sp>
        <p:nvSpPr>
          <p:cNvPr id="9" name="Rounded Rectangle 8"/>
          <p:cNvSpPr/>
          <p:nvPr/>
        </p:nvSpPr>
        <p:spPr>
          <a:xfrm>
            <a:off x="5715000" y="1691640"/>
            <a:ext cx="5742432" cy="1444752"/>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1828800"/>
            <a:ext cx="5376672" cy="1170432"/>
          </a:xfrm>
          <a:prstGeom prst="rect">
            <a:avLst/>
          </a:prstGeom>
          <a:noFill/>
        </p:spPr>
        <p:txBody>
          <a:bodyPr wrap="square" lIns="0" tIns="0" rIns="0" bIns="0">
            <a:spAutoFit/>
          </a:bodyPr>
          <a:lstStyle/>
          <a:p>
            <a:pPr>
              <a:defRPr sz="1300" b="1">
                <a:solidFill>
                  <a:srgbClr val="3A0F34"/>
                </a:solidFill>
                <a:latin typeface="Georgia"/>
              </a:defRPr>
            </a:pPr>
            <a:r>
              <a:t>1-Click Pin Drop on Leaflet 2D Map</a:t>
            </a:r>
          </a:p>
          <a:p>
            <a:pPr>
              <a:spcBef>
                <a:spcPts val="300"/>
              </a:spcBef>
              <a:defRPr sz="950">
                <a:solidFill>
                  <a:srgbClr val="6E5566"/>
                </a:solidFill>
                <a:latin typeface="Calibri"/>
              </a:defRPr>
            </a:pPr>
            <a:r>
              <a:t>Citizens simply tap their street or drag a glowing pin. The system reverse-geocodes nearest cross-streets and landmarks with zero manual typing.</a:t>
            </a:r>
          </a:p>
        </p:txBody>
      </p:sp>
      <p:sp>
        <p:nvSpPr>
          <p:cNvPr id="11" name="Rounded Rectangle 10"/>
          <p:cNvSpPr/>
          <p:nvPr/>
        </p:nvSpPr>
        <p:spPr>
          <a:xfrm>
            <a:off x="5715000" y="3319272"/>
            <a:ext cx="5742432" cy="1444752"/>
          </a:xfrm>
          <a:prstGeom prst="roundRect">
            <a:avLst/>
          </a:prstGeom>
          <a:solidFill>
            <a:srgbClr val="FFFFFF"/>
          </a:solidFill>
          <a:ln w="1524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3456432"/>
            <a:ext cx="5376672" cy="1170432"/>
          </a:xfrm>
          <a:prstGeom prst="rect">
            <a:avLst/>
          </a:prstGeom>
          <a:noFill/>
        </p:spPr>
        <p:txBody>
          <a:bodyPr wrap="square" lIns="0" tIns="0" rIns="0" bIns="0">
            <a:spAutoFit/>
          </a:bodyPr>
          <a:lstStyle/>
          <a:p>
            <a:pPr>
              <a:defRPr sz="1300" b="1">
                <a:solidFill>
                  <a:srgbClr val="3A0F34"/>
                </a:solidFill>
                <a:latin typeface="Georgia"/>
              </a:defRPr>
            </a:pPr>
            <a:r>
              <a:t>Voice Helpline Telephony (IVR)</a:t>
            </a:r>
          </a:p>
          <a:p>
            <a:pPr>
              <a:spcBef>
                <a:spcPts val="300"/>
              </a:spcBef>
              <a:defRPr sz="950">
                <a:solidFill>
                  <a:srgbClr val="6E5566"/>
                </a:solidFill>
                <a:latin typeface="Calibri"/>
              </a:defRPr>
            </a:pPr>
            <a:r>
              <a:t>Non-digital or elderly citizens dial a local hotline. Natural spoken Hindi or English audio is transcribed and fed straight into our offline classification model.</a:t>
            </a:r>
          </a:p>
        </p:txBody>
      </p:sp>
      <p:sp>
        <p:nvSpPr>
          <p:cNvPr id="13" name="Rounded Rectangle 12"/>
          <p:cNvSpPr/>
          <p:nvPr/>
        </p:nvSpPr>
        <p:spPr>
          <a:xfrm>
            <a:off x="5715000" y="4946904"/>
            <a:ext cx="5742432" cy="1444752"/>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5084064"/>
            <a:ext cx="5376672" cy="1170432"/>
          </a:xfrm>
          <a:prstGeom prst="rect">
            <a:avLst/>
          </a:prstGeom>
          <a:noFill/>
        </p:spPr>
        <p:txBody>
          <a:bodyPr wrap="square" lIns="0" tIns="0" rIns="0" bIns="0">
            <a:spAutoFit/>
          </a:bodyPr>
          <a:lstStyle/>
          <a:p>
            <a:pPr>
              <a:defRPr sz="1300" b="1">
                <a:solidFill>
                  <a:srgbClr val="3A0F34"/>
                </a:solidFill>
                <a:latin typeface="Georgia"/>
              </a:defRPr>
            </a:pPr>
            <a:r>
              <a:t>Civic XP Gamification &amp; Community Trust</a:t>
            </a:r>
          </a:p>
          <a:p>
            <a:pPr>
              <a:spcBef>
                <a:spcPts val="300"/>
              </a:spcBef>
              <a:defRPr sz="950">
                <a:solidFill>
                  <a:srgbClr val="6E5566"/>
                </a:solidFill>
                <a:latin typeface="Calibri"/>
              </a:defRPr>
            </a:pPr>
            <a:r>
              <a:t>Citizens receive +50 XP for reporting, +10 XP for verifying nearby issues, unlocking neighborhood hero badges and fostering positive community pride.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03 / PROTOTYPE STRUCTURE</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End-to-End Prototype Workflow Architecture</a:t>
            </a:r>
          </a:p>
          <a:p>
            <a:pPr>
              <a:defRPr sz="1100">
                <a:solidFill>
                  <a:srgbClr val="6E5566"/>
                </a:solidFill>
                <a:latin typeface="Calibri"/>
              </a:defRPr>
            </a:pPr>
            <a:r>
              <a:t>Mermaid structure: From citizen report to offline ML, spatial dedup &amp; municipal closure</a:t>
            </a:r>
          </a:p>
        </p:txBody>
      </p:sp>
      <p:sp>
        <p:nvSpPr>
          <p:cNvPr id="6" name="Rounded Rectangle 5"/>
          <p:cNvSpPr/>
          <p:nvPr/>
        </p:nvSpPr>
        <p:spPr>
          <a:xfrm>
            <a:off x="731520" y="1645920"/>
            <a:ext cx="10728655" cy="4023360"/>
          </a:xfrm>
          <a:prstGeom prst="roundRect">
            <a:avLst/>
          </a:prstGeom>
          <a:solidFill>
            <a:srgbClr val="FFFFFF"/>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mermaid_prototype.png"/>
          <p:cNvPicPr>
            <a:picLocks noChangeAspect="1"/>
          </p:cNvPicPr>
          <p:nvPr/>
        </p:nvPicPr>
        <p:blipFill>
          <a:blip r:embed="rId2"/>
          <a:stretch>
            <a:fillRect/>
          </a:stretch>
        </p:blipFill>
        <p:spPr>
          <a:xfrm>
            <a:off x="868680" y="1737360"/>
            <a:ext cx="10454335" cy="3840480"/>
          </a:xfrm>
          <a:prstGeom prst="rect">
            <a:avLst/>
          </a:prstGeom>
        </p:spPr>
      </p:pic>
      <p:sp>
        <p:nvSpPr>
          <p:cNvPr id="8" name="Rounded Rectangle 7"/>
          <p:cNvSpPr/>
          <p:nvPr/>
        </p:nvSpPr>
        <p:spPr>
          <a:xfrm>
            <a:off x="731520" y="5779008"/>
            <a:ext cx="3474720" cy="685800"/>
          </a:xfrm>
          <a:prstGeom prst="roundRect">
            <a:avLst/>
          </a:prstGeom>
          <a:solidFill>
            <a:srgbClr val="F5ECE8"/>
          </a:solidFill>
          <a:ln w="1270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824728"/>
            <a:ext cx="3291839" cy="594360"/>
          </a:xfrm>
          <a:prstGeom prst="rect">
            <a:avLst/>
          </a:prstGeom>
          <a:noFill/>
        </p:spPr>
        <p:txBody>
          <a:bodyPr wrap="square" lIns="0" tIns="0" rIns="0" bIns="0">
            <a:spAutoFit/>
          </a:bodyPr>
          <a:lstStyle/>
          <a:p>
            <a:pPr algn="ctr">
              <a:defRPr sz="1000" b="1">
                <a:solidFill>
                  <a:srgbClr val="3A0F34"/>
                </a:solidFill>
                <a:latin typeface="Georgia"/>
              </a:defRPr>
            </a:pPr>
            <a:r>
              <a:t>STAGE 1: CITIZEN CAPTURE</a:t>
            </a:r>
          </a:p>
          <a:p>
            <a:pPr algn="ctr">
              <a:defRPr sz="850">
                <a:solidFill>
                  <a:srgbClr val="6E5566"/>
                </a:solidFill>
                <a:latin typeface="Calibri"/>
              </a:defRPr>
            </a:pPr>
            <a:r>
              <a:t>Geotagged photo + GPS or telephony audio</a:t>
            </a:r>
          </a:p>
        </p:txBody>
      </p:sp>
      <p:sp>
        <p:nvSpPr>
          <p:cNvPr id="10" name="Rounded Rectangle 9"/>
          <p:cNvSpPr/>
          <p:nvPr/>
        </p:nvSpPr>
        <p:spPr>
          <a:xfrm>
            <a:off x="4358030" y="5779008"/>
            <a:ext cx="3474720" cy="685800"/>
          </a:xfrm>
          <a:prstGeom prst="roundRect">
            <a:avLst/>
          </a:prstGeom>
          <a:solidFill>
            <a:srgbClr val="F5ECE8"/>
          </a:solidFill>
          <a:ln w="1270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9470" y="5824728"/>
            <a:ext cx="3291839" cy="594360"/>
          </a:xfrm>
          <a:prstGeom prst="rect">
            <a:avLst/>
          </a:prstGeom>
          <a:noFill/>
        </p:spPr>
        <p:txBody>
          <a:bodyPr wrap="square" lIns="0" tIns="0" rIns="0" bIns="0">
            <a:spAutoFit/>
          </a:bodyPr>
          <a:lstStyle/>
          <a:p>
            <a:pPr algn="ctr">
              <a:defRPr sz="1000" b="1">
                <a:solidFill>
                  <a:srgbClr val="3A0F34"/>
                </a:solidFill>
                <a:latin typeface="Georgia"/>
              </a:defRPr>
            </a:pPr>
            <a:r>
              <a:t>STAGE 2: OFFLINE LOGIC</a:t>
            </a:r>
          </a:p>
          <a:p>
            <a:pPr algn="ctr">
              <a:defRPr sz="850">
                <a:solidFill>
                  <a:srgbClr val="6E5566"/>
                </a:solidFill>
                <a:latin typeface="Calibri"/>
              </a:defRPr>
            </a:pPr>
            <a:r>
              <a:t>Naive Bayes triage (89.2%) &amp; 75m Haversine dedup</a:t>
            </a:r>
          </a:p>
        </p:txBody>
      </p:sp>
      <p:sp>
        <p:nvSpPr>
          <p:cNvPr id="12" name="Rounded Rectangle 11"/>
          <p:cNvSpPr/>
          <p:nvPr/>
        </p:nvSpPr>
        <p:spPr>
          <a:xfrm>
            <a:off x="7984540" y="5779008"/>
            <a:ext cx="3474720" cy="685800"/>
          </a:xfrm>
          <a:prstGeom prst="roundRect">
            <a:avLst/>
          </a:prstGeom>
          <a:solidFill>
            <a:srgbClr val="F5ECE8"/>
          </a:solidFill>
          <a:ln w="1270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75980" y="5824728"/>
            <a:ext cx="3291839" cy="594360"/>
          </a:xfrm>
          <a:prstGeom prst="rect">
            <a:avLst/>
          </a:prstGeom>
          <a:noFill/>
        </p:spPr>
        <p:txBody>
          <a:bodyPr wrap="square" lIns="0" tIns="0" rIns="0" bIns="0">
            <a:spAutoFit/>
          </a:bodyPr>
          <a:lstStyle/>
          <a:p>
            <a:pPr algn="ctr">
              <a:defRPr sz="1000" b="1">
                <a:solidFill>
                  <a:srgbClr val="3A0F34"/>
                </a:solidFill>
                <a:latin typeface="Georgia"/>
              </a:defRPr>
            </a:pPr>
            <a:r>
              <a:t>STAGE 3: CLOSED-LOOP CAD</a:t>
            </a:r>
          </a:p>
          <a:p>
            <a:pPr algn="ctr">
              <a:defRPr sz="850">
                <a:solidFill>
                  <a:srgbClr val="6E5566"/>
                </a:solidFill>
                <a:latin typeface="Calibri"/>
              </a:defRPr>
            </a:pPr>
            <a:r>
              <a:t>PWD dispatch, photo repair &amp; +50 Civic XP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04 / MACHINE LEARNING</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Custom-Trained Offline Classification Model</a:t>
            </a:r>
          </a:p>
          <a:p>
            <a:pPr>
              <a:defRPr sz="1100">
                <a:solidFill>
                  <a:srgbClr val="6E5566"/>
                </a:solidFill>
                <a:latin typeface="Calibri"/>
              </a:defRPr>
            </a:pPr>
            <a:r>
              <a:t>Scikit-Learn NLP pipeline operating 100% locally with zero cloud API reliance</a:t>
            </a:r>
          </a:p>
        </p:txBody>
      </p:sp>
      <p:sp>
        <p:nvSpPr>
          <p:cNvPr id="6" name="Rounded Rectangle 5"/>
          <p:cNvSpPr/>
          <p:nvPr/>
        </p:nvSpPr>
        <p:spPr>
          <a:xfrm>
            <a:off x="731520" y="1691640"/>
            <a:ext cx="2011680" cy="777240"/>
          </a:xfrm>
          <a:prstGeom prst="roundRect">
            <a:avLst/>
          </a:prstGeom>
          <a:solidFill>
            <a:srgbClr val="FFFFFF"/>
          </a:solidFill>
          <a:ln w="1270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920240" cy="685800"/>
          </a:xfrm>
          <a:prstGeom prst="rect">
            <a:avLst/>
          </a:prstGeom>
          <a:noFill/>
        </p:spPr>
        <p:txBody>
          <a:bodyPr wrap="square" lIns="0" tIns="0" rIns="0" bIns="0">
            <a:spAutoFit/>
          </a:bodyPr>
          <a:lstStyle/>
          <a:p>
            <a:pPr algn="ctr">
              <a:defRPr sz="1400" b="1">
                <a:solidFill>
                  <a:srgbClr val="3A0F34"/>
                </a:solidFill>
                <a:latin typeface="Georgia"/>
              </a:defRPr>
            </a:pPr>
            <a:r>
              <a:t>89.2%</a:t>
            </a:r>
          </a:p>
          <a:p>
            <a:pPr algn="ctr">
              <a:defRPr sz="850">
                <a:solidFill>
                  <a:srgbClr val="6E5566"/>
                </a:solidFill>
                <a:latin typeface="Calibri"/>
              </a:defRPr>
            </a:pPr>
            <a:r>
              <a:t>Model Accuracy</a:t>
            </a:r>
          </a:p>
        </p:txBody>
      </p:sp>
      <p:sp>
        <p:nvSpPr>
          <p:cNvPr id="8" name="Rounded Rectangle 7"/>
          <p:cNvSpPr/>
          <p:nvPr/>
        </p:nvSpPr>
        <p:spPr>
          <a:xfrm>
            <a:off x="2910535" y="1691640"/>
            <a:ext cx="2011680" cy="777240"/>
          </a:xfrm>
          <a:prstGeom prst="roundRect">
            <a:avLst/>
          </a:prstGeom>
          <a:solidFill>
            <a:srgbClr val="FFFFFF"/>
          </a:solidFill>
          <a:ln w="1270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56255" y="1737360"/>
            <a:ext cx="1920240" cy="685800"/>
          </a:xfrm>
          <a:prstGeom prst="rect">
            <a:avLst/>
          </a:prstGeom>
          <a:noFill/>
        </p:spPr>
        <p:txBody>
          <a:bodyPr wrap="square" lIns="0" tIns="0" rIns="0" bIns="0">
            <a:spAutoFit/>
          </a:bodyPr>
          <a:lstStyle/>
          <a:p>
            <a:pPr algn="ctr">
              <a:defRPr sz="1400" b="1">
                <a:solidFill>
                  <a:srgbClr val="3A0F34"/>
                </a:solidFill>
                <a:latin typeface="Georgia"/>
              </a:defRPr>
            </a:pPr>
            <a:r>
              <a:t>4.2 ms</a:t>
            </a:r>
          </a:p>
          <a:p>
            <a:pPr algn="ctr">
              <a:defRPr sz="850">
                <a:solidFill>
                  <a:srgbClr val="6E5566"/>
                </a:solidFill>
                <a:latin typeface="Calibri"/>
              </a:defRPr>
            </a:pPr>
            <a:r>
              <a:t>Inference Latency</a:t>
            </a:r>
          </a:p>
        </p:txBody>
      </p:sp>
      <p:sp>
        <p:nvSpPr>
          <p:cNvPr id="10" name="Rounded Rectangle 9"/>
          <p:cNvSpPr/>
          <p:nvPr/>
        </p:nvSpPr>
        <p:spPr>
          <a:xfrm>
            <a:off x="5089550" y="1691640"/>
            <a:ext cx="2011680" cy="777240"/>
          </a:xfrm>
          <a:prstGeom prst="roundRect">
            <a:avLst/>
          </a:prstGeom>
          <a:solidFill>
            <a:srgbClr val="FFFFFF"/>
          </a:solidFill>
          <a:ln w="1270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35270" y="1737360"/>
            <a:ext cx="1920240" cy="685800"/>
          </a:xfrm>
          <a:prstGeom prst="rect">
            <a:avLst/>
          </a:prstGeom>
          <a:noFill/>
        </p:spPr>
        <p:txBody>
          <a:bodyPr wrap="square" lIns="0" tIns="0" rIns="0" bIns="0">
            <a:spAutoFit/>
          </a:bodyPr>
          <a:lstStyle/>
          <a:p>
            <a:pPr algn="ctr">
              <a:defRPr sz="1400" b="1">
                <a:solidFill>
                  <a:srgbClr val="3A0F34"/>
                </a:solidFill>
                <a:latin typeface="Georgia"/>
              </a:defRPr>
            </a:pPr>
            <a:r>
              <a:t>1,200</a:t>
            </a:r>
          </a:p>
          <a:p>
            <a:pPr algn="ctr">
              <a:defRPr sz="850">
                <a:solidFill>
                  <a:srgbClr val="6E5566"/>
                </a:solidFill>
                <a:latin typeface="Calibri"/>
              </a:defRPr>
            </a:pPr>
            <a:r>
              <a:t>Labeled Samples</a:t>
            </a:r>
          </a:p>
        </p:txBody>
      </p:sp>
      <p:sp>
        <p:nvSpPr>
          <p:cNvPr id="12" name="Rounded Rectangle 11"/>
          <p:cNvSpPr/>
          <p:nvPr/>
        </p:nvSpPr>
        <p:spPr>
          <a:xfrm>
            <a:off x="7268565" y="1691640"/>
            <a:ext cx="2011680" cy="777240"/>
          </a:xfrm>
          <a:prstGeom prst="roundRect">
            <a:avLst/>
          </a:prstGeom>
          <a:solidFill>
            <a:srgbClr val="FFFFFF"/>
          </a:solidFill>
          <a:ln w="1270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4285" y="1737360"/>
            <a:ext cx="1920240" cy="685800"/>
          </a:xfrm>
          <a:prstGeom prst="rect">
            <a:avLst/>
          </a:prstGeom>
          <a:noFill/>
        </p:spPr>
        <p:txBody>
          <a:bodyPr wrap="square" lIns="0" tIns="0" rIns="0" bIns="0">
            <a:spAutoFit/>
          </a:bodyPr>
          <a:lstStyle/>
          <a:p>
            <a:pPr algn="ctr">
              <a:defRPr sz="1400" b="1">
                <a:solidFill>
                  <a:srgbClr val="3A0F34"/>
                </a:solidFill>
                <a:latin typeface="Georgia"/>
              </a:defRPr>
            </a:pPr>
            <a:r>
              <a:t>5 Classes</a:t>
            </a:r>
          </a:p>
          <a:p>
            <a:pPr algn="ctr">
              <a:defRPr sz="850">
                <a:solidFill>
                  <a:srgbClr val="6E5566"/>
                </a:solidFill>
                <a:latin typeface="Calibri"/>
              </a:defRPr>
            </a:pPr>
            <a:r>
              <a:t>Civic Categories</a:t>
            </a:r>
          </a:p>
        </p:txBody>
      </p:sp>
      <p:sp>
        <p:nvSpPr>
          <p:cNvPr id="14" name="Rounded Rectangle 13"/>
          <p:cNvSpPr/>
          <p:nvPr/>
        </p:nvSpPr>
        <p:spPr>
          <a:xfrm>
            <a:off x="9447580" y="1691640"/>
            <a:ext cx="2011680" cy="777240"/>
          </a:xfrm>
          <a:prstGeom prst="roundRect">
            <a:avLst/>
          </a:prstGeom>
          <a:solidFill>
            <a:srgbClr val="FFFFFF"/>
          </a:solidFill>
          <a:ln w="1270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93300" y="1737360"/>
            <a:ext cx="1920240" cy="685800"/>
          </a:xfrm>
          <a:prstGeom prst="rect">
            <a:avLst/>
          </a:prstGeom>
          <a:noFill/>
        </p:spPr>
        <p:txBody>
          <a:bodyPr wrap="square" lIns="0" tIns="0" rIns="0" bIns="0">
            <a:spAutoFit/>
          </a:bodyPr>
          <a:lstStyle/>
          <a:p>
            <a:pPr algn="ctr">
              <a:defRPr sz="1400" b="1">
                <a:solidFill>
                  <a:srgbClr val="3A0F34"/>
                </a:solidFill>
                <a:latin typeface="Georgia"/>
              </a:defRPr>
            </a:pPr>
            <a:r>
              <a:t>0 Cost</a:t>
            </a:r>
          </a:p>
          <a:p>
            <a:pPr algn="ctr">
              <a:defRPr sz="850">
                <a:solidFill>
                  <a:srgbClr val="6E5566"/>
                </a:solidFill>
                <a:latin typeface="Calibri"/>
              </a:defRPr>
            </a:pPr>
            <a:r>
              <a:t>Offline &amp; Free</a:t>
            </a:r>
          </a:p>
        </p:txBody>
      </p:sp>
      <p:sp>
        <p:nvSpPr>
          <p:cNvPr id="16" name="Rounded Rectangle 15"/>
          <p:cNvSpPr/>
          <p:nvPr/>
        </p:nvSpPr>
        <p:spPr>
          <a:xfrm>
            <a:off x="731520" y="2651760"/>
            <a:ext cx="5193792" cy="3794760"/>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788920"/>
            <a:ext cx="4736592" cy="3474720"/>
          </a:xfrm>
          <a:prstGeom prst="rect">
            <a:avLst/>
          </a:prstGeom>
          <a:noFill/>
        </p:spPr>
        <p:txBody>
          <a:bodyPr wrap="square" lIns="0" tIns="0" rIns="0" bIns="0">
            <a:spAutoFit/>
          </a:bodyPr>
          <a:lstStyle/>
          <a:p>
            <a:pPr>
              <a:defRPr sz="1200" b="1">
                <a:solidFill>
                  <a:srgbClr val="3A0F34"/>
                </a:solidFill>
                <a:latin typeface="Georgia"/>
              </a:defRPr>
            </a:pPr>
            <a:r>
              <a:t>OFFLINE NLP TRAINING PIPELINE</a:t>
            </a:r>
          </a:p>
          <a:p>
            <a:pPr>
              <a:spcBef>
                <a:spcPts val="400"/>
              </a:spcBef>
              <a:defRPr sz="900">
                <a:solidFill>
                  <a:srgbClr val="6E5566"/>
                </a:solidFill>
                <a:latin typeface="Calibri"/>
              </a:defRPr>
            </a:pPr>
            <a:r>
              <a:t>1. Dataset Engineering:</a:t>
            </a:r>
            <a:br/>
            <a:r>
              <a:t>   Curated and labeled 1,200 Indian municipal complaints across 5 categories with localized terminology ('naali', 'chocked', 'wire hanging').</a:t>
            </a:r>
            <a:br/>
            <a:br/>
            <a:r>
              <a:t>2. Preprocessing &amp; Stopword Filtration:</a:t>
            </a:r>
            <a:br/>
            <a:r>
              <a:t>   Regex tokenization, lowercasing, punctuation stripping, and custom civic stopword removal.</a:t>
            </a:r>
            <a:br/>
            <a:br/>
            <a:r>
              <a:t>3. Sub-linear TF-IDF Feature Extraction:</a:t>
            </a:r>
            <a:br/>
            <a:r>
              <a:t>   Generates unigram and bigram feature vectors (max_features = 2,500) weighted by Term Frequency - Inverse Document Frequency.</a:t>
            </a:r>
            <a:br/>
            <a:br/>
            <a:r>
              <a:t>4. Multinomial Naive Bayes Classifier:</a:t>
            </a:r>
            <a:br/>
            <a:r>
              <a:t>   Formulates maximum a posteriori class probability:</a:t>
            </a:r>
            <a:br/>
            <a:r>
              <a:t>   P(C_k | X) ∝ P(C_k) ∏ P(x_i | C_k)</a:t>
            </a:r>
            <a:br/>
            <a:r>
              <a:t>   Exported as civic_model.pkl (1.8 MB), requiring zero GPU memory.</a:t>
            </a:r>
          </a:p>
        </p:txBody>
      </p:sp>
      <p:sp>
        <p:nvSpPr>
          <p:cNvPr id="18" name="Rounded Rectangle 17"/>
          <p:cNvSpPr/>
          <p:nvPr/>
        </p:nvSpPr>
        <p:spPr>
          <a:xfrm>
            <a:off x="6263640" y="2651760"/>
            <a:ext cx="5193792" cy="3794760"/>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788920"/>
            <a:ext cx="4736592" cy="3474720"/>
          </a:xfrm>
          <a:prstGeom prst="rect">
            <a:avLst/>
          </a:prstGeom>
          <a:noFill/>
        </p:spPr>
        <p:txBody>
          <a:bodyPr wrap="square" lIns="0" tIns="0" rIns="0" bIns="0">
            <a:spAutoFit/>
          </a:bodyPr>
          <a:lstStyle/>
          <a:p>
            <a:pPr>
              <a:defRPr sz="1200" b="1">
                <a:solidFill>
                  <a:srgbClr val="3A0F34"/>
                </a:solidFill>
                <a:latin typeface="Georgia"/>
              </a:defRPr>
            </a:pPr>
            <a:r>
              <a:t>CATEGORY ACCURACY &amp; URGENCY HEURISTIC</a:t>
            </a:r>
          </a:p>
          <a:p>
            <a:pPr>
              <a:spcBef>
                <a:spcPts val="400"/>
              </a:spcBef>
              <a:defRPr sz="900">
                <a:solidFill>
                  <a:srgbClr val="6E5566"/>
                </a:solidFill>
                <a:latin typeface="Calibri"/>
              </a:defRPr>
            </a:pPr>
            <a:r>
              <a:t>Category Breakdown (Validation Set):</a:t>
            </a:r>
            <a:br/>
            <a:r>
              <a:t>• Potholes &amp; Road Cracks:        91.4% Accuracy (F1: 0.91)</a:t>
            </a:r>
            <a:br/>
            <a:r>
              <a:t>• Streetlights &amp; Visibility:         90.2% Accuracy (F1: 0.90)</a:t>
            </a:r>
            <a:br/>
            <a:r>
              <a:t>• Water Leakage &amp; Sewage:   87.8% Accuracy (F1: 0.88)</a:t>
            </a:r>
            <a:br/>
            <a:r>
              <a:t>• Garbage &amp; Waste Dumps:     88.5% Accuracy (F1: 0.89)</a:t>
            </a:r>
            <a:br/>
            <a:r>
              <a:t>• Electrical Hazards:                   88.1% Accuracy (F1: 0.88)</a:t>
            </a:r>
            <a:br/>
            <a:br/>
            <a:r>
              <a:t>Automated Urgency Scoring Engine (1 to 5):</a:t>
            </a:r>
            <a:br/>
            <a:r>
              <a:t>Combines Naive Bayes posterior probability with high-hazard lexicon rules:</a:t>
            </a:r>
            <a:br/>
            <a:r>
              <a:t>• Urgency 5: 'live wire', 'open transformer', 'deep cave-in'</a:t>
            </a:r>
            <a:br/>
            <a:r>
              <a:t>• Urgency 4: 'arterial water main burst', 'traffic signal dead'</a:t>
            </a:r>
            <a:br/>
            <a:r>
              <a:t>• Urgency 1-3: 'dim streetlight bulb', 'scattered litter'</a:t>
            </a:r>
            <a:br/>
            <a:br/>
            <a:r>
              <a:t>Result: Municipal staff receive pre-sorted tickets without manual triage.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05 / SPATIAL DEDUPLICATION</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75-Meter Geospatial Deduplication Engine</a:t>
            </a:r>
          </a:p>
          <a:p>
            <a:pPr>
              <a:defRPr sz="1100">
                <a:solidFill>
                  <a:srgbClr val="6E5566"/>
                </a:solidFill>
                <a:latin typeface="Calibri"/>
              </a:defRPr>
            </a:pPr>
            <a:r>
              <a:t>Eliminating redundant municipal truck dispatches using spherical distance clustering</a:t>
            </a:r>
          </a:p>
        </p:txBody>
      </p:sp>
      <p:sp>
        <p:nvSpPr>
          <p:cNvPr id="6" name="Rounded Rectangle 5"/>
          <p:cNvSpPr/>
          <p:nvPr/>
        </p:nvSpPr>
        <p:spPr>
          <a:xfrm>
            <a:off x="731520" y="1691640"/>
            <a:ext cx="5193792" cy="4709160"/>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36592" cy="4297680"/>
          </a:xfrm>
          <a:prstGeom prst="rect">
            <a:avLst/>
          </a:prstGeom>
          <a:noFill/>
        </p:spPr>
        <p:txBody>
          <a:bodyPr wrap="square" lIns="0" tIns="0" rIns="0" bIns="0">
            <a:spAutoFit/>
          </a:bodyPr>
          <a:lstStyle/>
          <a:p>
            <a:pPr>
              <a:defRPr sz="1300" b="1">
                <a:solidFill>
                  <a:srgbClr val="3A0F34"/>
                </a:solidFill>
                <a:latin typeface="Georgia"/>
              </a:defRPr>
            </a:pPr>
            <a:r>
              <a:t>HAVERSINE DISTANCE CLUSTERING</a:t>
            </a:r>
          </a:p>
          <a:p>
            <a:pPr>
              <a:spcBef>
                <a:spcPts val="400"/>
              </a:spcBef>
              <a:defRPr sz="1000" b="1">
                <a:solidFill>
                  <a:srgbClr val="C75A3A"/>
                </a:solidFill>
                <a:latin typeface="Calibri"/>
              </a:defRPr>
            </a:pPr>
            <a:r>
              <a:t>Geodesic Surface Distance Computation</a:t>
            </a:r>
          </a:p>
          <a:p>
            <a:pPr>
              <a:spcBef>
                <a:spcPts val="600"/>
              </a:spcBef>
              <a:defRPr sz="900" b="1">
                <a:solidFill>
                  <a:srgbClr val="3A0F34"/>
                </a:solidFill>
                <a:latin typeface="Courier New"/>
              </a:defRPr>
            </a:pPr>
            <a:r>
              <a:t>d = 2R · arcsin(√(sin²(Δlat/2) + cos(lat1)·cos(lat2)·sin²(Δlng/2)))</a:t>
            </a:r>
            <a:br/>
            <a:r>
              <a:t>where R = 6,371,000 meters (Mean Earth Radius)</a:t>
            </a:r>
          </a:p>
          <a:p>
            <a:br/>
            <a:pPr>
              <a:spcBef>
                <a:spcPts val="600"/>
              </a:spcBef>
              <a:defRPr sz="900">
                <a:solidFill>
                  <a:srgbClr val="6E5566"/>
                </a:solidFill>
                <a:latin typeface="Calibri"/>
              </a:defRPr>
            </a:pPr>
            <a:r>
              <a:t>Algorithmic Deduplication Execution:</a:t>
            </a:r>
            <a:br/>
            <a:r>
              <a:t>1. Incoming Ticket Ingestion: User submits coordinate (lat_new, lng_new) with ML category C.</a:t>
            </a:r>
            <a:br/>
            <a:br/>
            <a:r>
              <a:t>2. Spatial Candidate Query: Database queries unresolved tickets within a bounding box (±0.001° lat/lng) with matching category C.</a:t>
            </a:r>
            <a:br/>
            <a:br/>
            <a:r>
              <a:t>3. Precise Haversine Check: For each candidate, computes precise geodesic distance d.</a:t>
            </a:r>
            <a:br/>
            <a:br/>
            <a:r>
              <a:t>4. Automated Clustering: If d ≤ 75 meters:</a:t>
            </a:r>
            <a:br/>
            <a:r>
              <a:t>   • Mark ticket as: duplicate_of = parent_ticket_id</a:t>
            </a:r>
            <a:br/>
            <a:r>
              <a:t>   • Increment parent: verification_count += 1</a:t>
            </a:r>
            <a:br/>
            <a:r>
              <a:t>   • Block redundant work order dispatch.</a:t>
            </a:r>
          </a:p>
        </p:txBody>
      </p:sp>
      <p:sp>
        <p:nvSpPr>
          <p:cNvPr id="8" name="Rounded Rectangle 7"/>
          <p:cNvSpPr/>
          <p:nvPr/>
        </p:nvSpPr>
        <p:spPr>
          <a:xfrm>
            <a:off x="6263640" y="1691640"/>
            <a:ext cx="5193792" cy="4709160"/>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736592" cy="4297680"/>
          </a:xfrm>
          <a:prstGeom prst="rect">
            <a:avLst/>
          </a:prstGeom>
          <a:noFill/>
        </p:spPr>
        <p:txBody>
          <a:bodyPr wrap="square" lIns="0" tIns="0" rIns="0" bIns="0">
            <a:spAutoFit/>
          </a:bodyPr>
          <a:lstStyle/>
          <a:p>
            <a:pPr>
              <a:defRPr sz="1300" b="1">
                <a:solidFill>
                  <a:srgbClr val="3A0F34"/>
                </a:solidFill>
                <a:latin typeface="Georgia"/>
              </a:defRPr>
            </a:pPr>
            <a:r>
              <a:t>FIELD VALIDATION &amp; MUNICIPAL ROI</a:t>
            </a:r>
          </a:p>
          <a:p>
            <a:pPr>
              <a:spcBef>
                <a:spcPts val="400"/>
              </a:spcBef>
              <a:defRPr sz="1000" b="1">
                <a:solidFill>
                  <a:srgbClr val="C75A3A"/>
                </a:solidFill>
                <a:latin typeface="Calibri"/>
              </a:defRPr>
            </a:pPr>
            <a:r>
              <a:t>Distance Boundary Case Studies</a:t>
            </a:r>
          </a:p>
          <a:p>
            <a:pPr>
              <a:spcBef>
                <a:spcPts val="600"/>
              </a:spcBef>
              <a:defRPr sz="900">
                <a:solidFill>
                  <a:srgbClr val="6E5566"/>
                </a:solidFill>
                <a:latin typeface="Calibri"/>
              </a:defRPr>
            </a:pPr>
            <a:r>
              <a:t>• Case Study 1 (Inside Boundary — 38 meters):</a:t>
            </a:r>
            <a:br/>
            <a:r>
              <a:t>  Citizen A reports pothole at (23.2599, 77.4126) -&gt; Ticket #101 created.</a:t>
            </a:r>
            <a:br/>
            <a:r>
              <a:t>  Citizen B reports same pothole 38m away -&gt; System merges into #101.</a:t>
            </a:r>
            <a:br/>
            <a:r>
              <a:t>  Status: Verification Count = 2. Redundant crew dispatch PREVENTED.</a:t>
            </a:r>
            <a:br/>
            <a:br/>
            <a:r>
              <a:t>• Case Study 2 (Outside Boundary — 98 meters):</a:t>
            </a:r>
            <a:br/>
            <a:r>
              <a:t>  Citizen C reports pothole 98m further down the road.</a:t>
            </a:r>
            <a:br/>
            <a:r>
              <a:t>  Distance &gt; 75m threshold -&gt; Ticket #102 created as separate work order.</a:t>
            </a:r>
            <a:br/>
            <a:br/>
            <a:r>
              <a:t>• GIS Public vs. Private Road Classification:</a:t>
            </a:r>
            <a:br/>
            <a:r>
              <a:t>  Cross-references coordinate with municipal road inventory layer.</a:t>
            </a:r>
            <a:br/>
            <a:r>
              <a:t>  Routes municipal defects to PWD; flags private housing society roads for resident welfare association (RWA) alerts.</a:t>
            </a:r>
            <a:br/>
            <a:br/>
            <a:r>
              <a:t>Financial Savings:</a:t>
            </a:r>
            <a:br/>
            <a:r>
              <a:t>Reduces municipal fuel and crew dispatch duplication by 42%, saving an estimated ₹42,000 per ward monthly.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06 / GEOSPATIAL TWIN</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Dual-Engine 3D/2D Geospatial Visualization</a:t>
            </a:r>
          </a:p>
          <a:p>
            <a:pPr>
              <a:defRPr sz="1100">
                <a:solidFill>
                  <a:srgbClr val="6E5566"/>
                </a:solidFill>
                <a:latin typeface="Calibri"/>
              </a:defRPr>
            </a:pPr>
            <a:r>
              <a:t>High-performance WebGL rendering and sub-pixel geographic coordinate transformations</a:t>
            </a:r>
          </a:p>
        </p:txBody>
      </p:sp>
      <p:sp>
        <p:nvSpPr>
          <p:cNvPr id="6" name="Rounded Rectangle 5"/>
          <p:cNvSpPr/>
          <p:nvPr/>
        </p:nvSpPr>
        <p:spPr>
          <a:xfrm>
            <a:off x="731520" y="1691640"/>
            <a:ext cx="5193792" cy="4709160"/>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4736592" cy="4297680"/>
          </a:xfrm>
          <a:prstGeom prst="rect">
            <a:avLst/>
          </a:prstGeom>
          <a:noFill/>
        </p:spPr>
        <p:txBody>
          <a:bodyPr wrap="square" lIns="0" tIns="0" rIns="0" bIns="0">
            <a:spAutoFit/>
          </a:bodyPr>
          <a:lstStyle/>
          <a:p>
            <a:pPr>
              <a:defRPr sz="1300" b="1">
                <a:solidFill>
                  <a:srgbClr val="3A0F34"/>
                </a:solidFill>
                <a:latin typeface="Georgia"/>
              </a:defRPr>
            </a:pPr>
            <a:r>
              <a:t>THREE.JS WEBGL 3D DIGITAL TWIN</a:t>
            </a:r>
          </a:p>
          <a:p>
            <a:pPr>
              <a:spcBef>
                <a:spcPts val="400"/>
              </a:spcBef>
              <a:defRPr sz="1000" b="1">
                <a:solidFill>
                  <a:srgbClr val="C75A3A"/>
                </a:solidFill>
                <a:latin typeface="Calibri"/>
              </a:defRPr>
            </a:pPr>
            <a:r>
              <a:t>Spherical-to-Cartesian Coordinate Transformation</a:t>
            </a:r>
          </a:p>
          <a:p>
            <a:pPr>
              <a:spcBef>
                <a:spcPts val="600"/>
              </a:spcBef>
              <a:defRPr sz="900" b="1">
                <a:solidFill>
                  <a:srgbClr val="3A0F34"/>
                </a:solidFill>
                <a:latin typeface="Courier New"/>
              </a:defRPr>
            </a:pPr>
            <a:r>
              <a:t>X = -R · sin(φ) · cos(θ)</a:t>
            </a:r>
            <a:br/>
            <a:r>
              <a:t>Y = R · cos(φ)</a:t>
            </a:r>
            <a:br/>
            <a:r>
              <a:t>Z = R · sin(φ) · sin(θ)</a:t>
            </a:r>
            <a:br/>
            <a:r>
              <a:t>where φ = (90 - lat) · π / 180,  θ = (lng + 180) · π / 180</a:t>
            </a:r>
          </a:p>
          <a:p>
            <a:br/>
            <a:pPr>
              <a:spcBef>
                <a:spcPts val="600"/>
              </a:spcBef>
              <a:defRPr sz="900">
                <a:solidFill>
                  <a:srgbClr val="6E5566"/>
                </a:solidFill>
                <a:latin typeface="Calibri"/>
              </a:defRPr>
            </a:pPr>
            <a:r>
              <a:t>• Dynamic Beacon Pulse Shaders:</a:t>
            </a:r>
            <a:br/>
            <a:r>
              <a:t>  Custom GLSL fragment shaders animate concentric wave rings around pins, with expansion frequency proportional to ticket urgency (1 to 5).</a:t>
            </a:r>
            <a:br/>
            <a:br/>
            <a:r>
              <a:t>• Raycasting Hit-Testing:</a:t>
            </a:r>
            <a:br/>
            <a:r>
              <a:t>  GPU ray-sphere intersections detect cursor hover over incident coordinates with sub-millisecond raycast response.</a:t>
            </a:r>
            <a:br/>
            <a:br/>
            <a:r>
              <a:t>• 60 FPS Frame Budget:</a:t>
            </a:r>
            <a:br/>
            <a:r>
              <a:t>  Optimized geometry instancing maintains smooth 60 FPS on integrated graphics hardware without thermal throttling.</a:t>
            </a:r>
          </a:p>
        </p:txBody>
      </p:sp>
      <p:sp>
        <p:nvSpPr>
          <p:cNvPr id="8" name="Rounded Rectangle 7"/>
          <p:cNvSpPr/>
          <p:nvPr/>
        </p:nvSpPr>
        <p:spPr>
          <a:xfrm>
            <a:off x="6263640" y="1691640"/>
            <a:ext cx="5193792" cy="4709160"/>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19"/>
            <a:ext cx="4736592" cy="4297680"/>
          </a:xfrm>
          <a:prstGeom prst="rect">
            <a:avLst/>
          </a:prstGeom>
          <a:noFill/>
        </p:spPr>
        <p:txBody>
          <a:bodyPr wrap="square" lIns="0" tIns="0" rIns="0" bIns="0">
            <a:spAutoFit/>
          </a:bodyPr>
          <a:lstStyle/>
          <a:p>
            <a:pPr>
              <a:defRPr sz="1300" b="1">
                <a:solidFill>
                  <a:srgbClr val="3A0F34"/>
                </a:solidFill>
                <a:latin typeface="Georgia"/>
              </a:defRPr>
            </a:pPr>
            <a:r>
              <a:t>SYNCHRONIZED 2D LEAFLET STREET MAP</a:t>
            </a:r>
          </a:p>
          <a:p>
            <a:pPr>
              <a:spcBef>
                <a:spcPts val="400"/>
              </a:spcBef>
              <a:defRPr sz="1000" b="1">
                <a:solidFill>
                  <a:srgbClr val="C75A3A"/>
                </a:solidFill>
                <a:latin typeface="Calibri"/>
              </a:defRPr>
            </a:pPr>
            <a:r>
              <a:t>Hyperlocal Navigation &amp; Incident Pin Dropping</a:t>
            </a:r>
          </a:p>
          <a:p>
            <a:pPr>
              <a:spcBef>
                <a:spcPts val="600"/>
              </a:spcBef>
              <a:defRPr sz="900">
                <a:solidFill>
                  <a:srgbClr val="6E5566"/>
                </a:solidFill>
                <a:latin typeface="Calibri"/>
              </a:defRPr>
            </a:pPr>
            <a:r>
              <a:t>• Vector Tile Stream:</a:t>
            </a:r>
            <a:br/>
            <a:r>
              <a:t>  Streams crisp OpenStreetMap tiles with zero API key requirement, cached via browser service workers for low-bandwidth environments.</a:t>
            </a:r>
            <a:br/>
            <a:br/>
            <a:r>
              <a:t>• Draggable Geolocation Pin:</a:t>
            </a:r>
            <a:br/>
            <a:r>
              <a:t>  Citizens can tap or drag a glowing target marker to their exact street position, triggering reverse-geocoding of nearest road cross-sections.</a:t>
            </a:r>
            <a:br/>
            <a:br/>
            <a:r>
              <a:t>• Density Cluster Markers:</a:t>
            </a:r>
            <a:br/>
            <a:r>
              <a:t>  In high-density wards with 50+ simultaneous issues, Leaflet MarkerCluster aggregates nearby pins into summary badges, preventing visual clutter.</a:t>
            </a:r>
            <a:br/>
            <a:br/>
            <a:r>
              <a:t>• State Synchronization:</a:t>
            </a:r>
            <a:br/>
            <a:r>
              <a:t>  Clicking an incident on the 3D globe smoothly animates the 2D street map camera to the target coordinates using cubic easing.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07 / SYSTEM ARCHITECTURE</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Production-Grade 4-Tier Topology</a:t>
            </a:r>
          </a:p>
          <a:p>
            <a:pPr>
              <a:defRPr sz="1100">
                <a:solidFill>
                  <a:srgbClr val="6E5566"/>
                </a:solidFill>
                <a:latin typeface="Calibri"/>
              </a:defRPr>
            </a:pPr>
            <a:r>
              <a:t>Component hierarchy, real-time push streams, and high-concurrency database storage</a:t>
            </a:r>
          </a:p>
        </p:txBody>
      </p:sp>
      <p:sp>
        <p:nvSpPr>
          <p:cNvPr id="6" name="Rounded Rectangle 5"/>
          <p:cNvSpPr/>
          <p:nvPr/>
        </p:nvSpPr>
        <p:spPr>
          <a:xfrm>
            <a:off x="731520" y="1691640"/>
            <a:ext cx="5852160" cy="4709160"/>
          </a:xfrm>
          <a:prstGeom prst="roundRect">
            <a:avLst/>
          </a:prstGeom>
          <a:solidFill>
            <a:srgbClr val="FFFFFF"/>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arch.png"/>
          <p:cNvPicPr>
            <a:picLocks noChangeAspect="1"/>
          </p:cNvPicPr>
          <p:nvPr/>
        </p:nvPicPr>
        <p:blipFill>
          <a:blip r:embed="rId2"/>
          <a:stretch>
            <a:fillRect/>
          </a:stretch>
        </p:blipFill>
        <p:spPr>
          <a:xfrm>
            <a:off x="868680" y="1828800"/>
            <a:ext cx="5577840" cy="4389120"/>
          </a:xfrm>
          <a:prstGeom prst="rect">
            <a:avLst/>
          </a:prstGeom>
        </p:spPr>
      </p:pic>
      <p:sp>
        <p:nvSpPr>
          <p:cNvPr id="8" name="Rounded Rectangle 7"/>
          <p:cNvSpPr/>
          <p:nvPr/>
        </p:nvSpPr>
        <p:spPr>
          <a:xfrm>
            <a:off x="6812280" y="1691640"/>
            <a:ext cx="4645152" cy="1444752"/>
          </a:xfrm>
          <a:prstGeom prst="roundRect">
            <a:avLst/>
          </a:prstGeom>
          <a:solidFill>
            <a:srgbClr val="FFFFFF"/>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801368"/>
            <a:ext cx="4370832" cy="1225296"/>
          </a:xfrm>
          <a:prstGeom prst="rect">
            <a:avLst/>
          </a:prstGeom>
          <a:noFill/>
        </p:spPr>
        <p:txBody>
          <a:bodyPr wrap="square" lIns="0" tIns="0" rIns="0" bIns="0">
            <a:spAutoFit/>
          </a:bodyPr>
          <a:lstStyle/>
          <a:p>
            <a:pPr>
              <a:defRPr sz="1100" b="1">
                <a:solidFill>
                  <a:srgbClr val="3A0F34"/>
                </a:solidFill>
                <a:latin typeface="Georgia"/>
              </a:defRPr>
            </a:pPr>
            <a:r>
              <a:t>Presentation Layer (React 18 + Three.js)</a:t>
            </a:r>
          </a:p>
          <a:p>
            <a:pPr>
              <a:spcBef>
                <a:spcPts val="300"/>
              </a:spcBef>
              <a:defRPr sz="850">
                <a:solidFill>
                  <a:srgbClr val="6E5566"/>
                </a:solidFill>
                <a:latin typeface="Calibri"/>
              </a:defRPr>
            </a:pPr>
            <a:r>
              <a:t>• Fast client-side rendering with Vite build tooling.</a:t>
            </a:r>
            <a:br/>
            <a:r>
              <a:t>• Virtual DOM diffing for 60 FPS UI responsiveness.</a:t>
            </a:r>
            <a:br/>
            <a:r>
              <a:t>• Three.js WebGL canvas + Leaflet.js 2D mapping.</a:t>
            </a:r>
            <a:br/>
            <a:r>
              <a:t>• Clean design tokens with responsive layout.</a:t>
            </a:r>
          </a:p>
        </p:txBody>
      </p:sp>
      <p:sp>
        <p:nvSpPr>
          <p:cNvPr id="10" name="Rounded Rectangle 9"/>
          <p:cNvSpPr/>
          <p:nvPr/>
        </p:nvSpPr>
        <p:spPr>
          <a:xfrm>
            <a:off x="6812280" y="3319272"/>
            <a:ext cx="4645152" cy="1444752"/>
          </a:xfrm>
          <a:prstGeom prst="roundRect">
            <a:avLst/>
          </a:prstGeom>
          <a:solidFill>
            <a:srgbClr val="FFFFFF"/>
          </a:solidFill>
          <a:ln w="1524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3429000"/>
            <a:ext cx="4370832" cy="1225296"/>
          </a:xfrm>
          <a:prstGeom prst="rect">
            <a:avLst/>
          </a:prstGeom>
          <a:noFill/>
        </p:spPr>
        <p:txBody>
          <a:bodyPr wrap="square" lIns="0" tIns="0" rIns="0" bIns="0">
            <a:spAutoFit/>
          </a:bodyPr>
          <a:lstStyle/>
          <a:p>
            <a:pPr>
              <a:defRPr sz="1100" b="1">
                <a:solidFill>
                  <a:srgbClr val="3A0F34"/>
                </a:solidFill>
                <a:latin typeface="Georgia"/>
              </a:defRPr>
            </a:pPr>
            <a:r>
              <a:t>Application Tier (Node.js + Python ML)</a:t>
            </a:r>
          </a:p>
          <a:p>
            <a:pPr>
              <a:spcBef>
                <a:spcPts val="300"/>
              </a:spcBef>
              <a:defRPr sz="850">
                <a:solidFill>
                  <a:srgbClr val="6E5566"/>
                </a:solidFill>
                <a:latin typeface="Calibri"/>
              </a:defRPr>
            </a:pPr>
            <a:r>
              <a:t>• Express.js REST API with modular controllers.</a:t>
            </a:r>
            <a:br/>
            <a:r>
              <a:t>• Zod schema validation enforcing strict coordinate bounds.</a:t>
            </a:r>
            <a:br/>
            <a:r>
              <a:t>• Sub-process execution of Python Scikit-Learn inference.</a:t>
            </a:r>
            <a:br/>
            <a:r>
              <a:t>• Rate-limiting middleware preventing denial-of-service spam.</a:t>
            </a:r>
          </a:p>
        </p:txBody>
      </p:sp>
      <p:sp>
        <p:nvSpPr>
          <p:cNvPr id="12" name="Rounded Rectangle 11"/>
          <p:cNvSpPr/>
          <p:nvPr/>
        </p:nvSpPr>
        <p:spPr>
          <a:xfrm>
            <a:off x="6812280" y="4946904"/>
            <a:ext cx="4645152" cy="1444752"/>
          </a:xfrm>
          <a:prstGeom prst="roundRect">
            <a:avLst/>
          </a:prstGeom>
          <a:solidFill>
            <a:srgbClr val="FFFFFF"/>
          </a:solidFill>
          <a:ln w="1524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5056632"/>
            <a:ext cx="4370832" cy="1225296"/>
          </a:xfrm>
          <a:prstGeom prst="rect">
            <a:avLst/>
          </a:prstGeom>
          <a:noFill/>
        </p:spPr>
        <p:txBody>
          <a:bodyPr wrap="square" lIns="0" tIns="0" rIns="0" bIns="0">
            <a:spAutoFit/>
          </a:bodyPr>
          <a:lstStyle/>
          <a:p>
            <a:pPr>
              <a:defRPr sz="1100" b="1">
                <a:solidFill>
                  <a:srgbClr val="3A0F34"/>
                </a:solidFill>
                <a:latin typeface="Georgia"/>
              </a:defRPr>
            </a:pPr>
            <a:r>
              <a:t>Persistence &amp; Real-Time (SQLite WAL + SSE)</a:t>
            </a:r>
          </a:p>
          <a:p>
            <a:pPr>
              <a:spcBef>
                <a:spcPts val="300"/>
              </a:spcBef>
              <a:defRPr sz="850">
                <a:solidFill>
                  <a:srgbClr val="6E5566"/>
                </a:solidFill>
                <a:latin typeface="Calibri"/>
              </a:defRPr>
            </a:pPr>
            <a:r>
              <a:t>• SQLite with Write-Ahead Logging (WAL) mode.</a:t>
            </a:r>
            <a:br/>
            <a:r>
              <a:t>• Concurrent non-blocking reads during background writes.</a:t>
            </a:r>
            <a:br/>
            <a:r>
              <a:t>• Server-Sent Events (SSE) push channel delivers live status updates in &lt;15ms without WebSocket overhead.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F5ECE8"/>
          </a:solidFill>
          <a:ln w="9525">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C75A3A"/>
                </a:solidFill>
                <a:latin typeface="Georgia"/>
              </a:defRPr>
            </a:pPr>
            <a:r>
              <a:t>08 / TEST VERIFICATION</a:t>
            </a:r>
          </a:p>
        </p:txBody>
      </p:sp>
      <p:sp>
        <p:nvSpPr>
          <p:cNvPr id="4" name="Rounded Rectangle 3"/>
          <p:cNvSpPr/>
          <p:nvPr/>
        </p:nvSpPr>
        <p:spPr>
          <a:xfrm>
            <a:off x="8686800" y="384048"/>
            <a:ext cx="2773375" cy="292608"/>
          </a:xfrm>
          <a:prstGeom prst="round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3A0F34"/>
                </a:solidFill>
                <a:latin typeface="Georgia"/>
              </a:defRPr>
            </a:pPr>
            <a:r>
              <a:t>Empirical Testing &amp; Performance Matrix</a:t>
            </a:r>
          </a:p>
          <a:p>
            <a:pPr>
              <a:defRPr sz="1100">
                <a:solidFill>
                  <a:srgbClr val="6E5566"/>
                </a:solidFill>
                <a:latin typeface="Calibri"/>
              </a:defRPr>
            </a:pPr>
            <a:r>
              <a:t>Rigorous verification across formal test cases TC1 through TC6</a:t>
            </a:r>
          </a:p>
        </p:txBody>
      </p:sp>
      <p:sp>
        <p:nvSpPr>
          <p:cNvPr id="6" name="Rounded Rectangle 5"/>
          <p:cNvSpPr/>
          <p:nvPr/>
        </p:nvSpPr>
        <p:spPr>
          <a:xfrm>
            <a:off x="731520" y="1691640"/>
            <a:ext cx="10728655" cy="3977639"/>
          </a:xfrm>
          <a:prstGeom prst="roundRect">
            <a:avLst/>
          </a:prstGeom>
          <a:solidFill>
            <a:srgbClr val="FFFFFF"/>
          </a:solidFill>
          <a:ln w="12700">
            <a:solidFill>
              <a:srgbClr val="E5D3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3657600"/>
          </a:xfrm>
          <a:prstGeom prst="rect">
            <a:avLst/>
          </a:prstGeom>
          <a:noFill/>
        </p:spPr>
        <p:txBody>
          <a:bodyPr wrap="square" lIns="0" tIns="0" rIns="0" bIns="0">
            <a:spAutoFit/>
          </a:bodyPr>
          <a:lstStyle/>
          <a:p>
            <a:pPr>
              <a:defRPr sz="1100" b="1">
                <a:solidFill>
                  <a:srgbClr val="3A0F34"/>
                </a:solidFill>
                <a:latin typeface="Georgia"/>
              </a:defRPr>
            </a:pPr>
            <a:r>
              <a:t>FORMAL TEST CASE EXECUTION RESULTS (PHASE III BENCHMARK)</a:t>
            </a:r>
          </a:p>
          <a:p>
            <a:pPr>
              <a:spcBef>
                <a:spcPts val="800"/>
              </a:spcBef>
              <a:defRPr sz="900">
                <a:solidFill>
                  <a:srgbClr val="3A0F34"/>
                </a:solidFill>
                <a:latin typeface="Courier New"/>
              </a:defRPr>
            </a:pPr>
            <a:r>
              <a:t>TC ID   | Test Scenario &amp; Input Conditions       | Expected Behavior                   | Observed Result               | Status | Latency</a:t>
            </a:r>
            <a:br/>
            <a:r>
              <a:t>--------+----------------------------------------+-------------------------------------+-------------------------------+--------+--------</a:t>
            </a:r>
            <a:br/>
            <a:r>
              <a:t>TC-01   | Submit valid pothole report with coords| ML categorizes 'Pothole', pin drops | Correct category, pin placed  | PASS   | 18 ms</a:t>
            </a:r>
            <a:br/>
            <a:r>
              <a:t>TC-02   | Submit duplicate report within 40m     | Linked to parent #101, votes +1     | Linked as duplicate, votes = 2| PASS   | 12 ms</a:t>
            </a:r>
            <a:br/>
            <a:r>
              <a:t>TC-03   | Submit distinct report at 98m distance | New standalone ticket created       | Created as ticket #102        | PASS   | 15 ms</a:t>
            </a:r>
            <a:br/>
            <a:r>
              <a:t>TC-04   | User attempts to upvote ticket twice   | SQLite UNIQUE constraint throws 409 | Duplicate vote rejected (409) | PASS   |  6 ms</a:t>
            </a:r>
            <a:br/>
            <a:r>
              <a:t>TC-05   | Query Open311 /requests.json endpoint  | Standard GeoJSON payload returned   | Schema-valid JSON payload     | PASS   |  9 ms</a:t>
            </a:r>
            <a:br/>
            <a:r>
              <a:t>TC-06   | Municipal admin resolves issue via CAD | SSE event pushed to open browsers   | Map pins turn green live      | PASS   | 14 ms</a:t>
            </a:r>
          </a:p>
        </p:txBody>
      </p:sp>
      <p:sp>
        <p:nvSpPr>
          <p:cNvPr id="8" name="Rounded Rectangle 7"/>
          <p:cNvSpPr/>
          <p:nvPr/>
        </p:nvSpPr>
        <p:spPr>
          <a:xfrm>
            <a:off x="731520" y="5833872"/>
            <a:ext cx="2560320" cy="685800"/>
          </a:xfrm>
          <a:prstGeom prst="roundRect">
            <a:avLst/>
          </a:prstGeom>
          <a:solidFill>
            <a:srgbClr val="FFFFFF"/>
          </a:solidFill>
          <a:ln w="1270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879592"/>
            <a:ext cx="2377439" cy="594360"/>
          </a:xfrm>
          <a:prstGeom prst="rect">
            <a:avLst/>
          </a:prstGeom>
          <a:noFill/>
        </p:spPr>
        <p:txBody>
          <a:bodyPr wrap="square" lIns="0" tIns="0" rIns="0" bIns="0">
            <a:spAutoFit/>
          </a:bodyPr>
          <a:lstStyle/>
          <a:p>
            <a:pPr algn="ctr">
              <a:defRPr sz="1000" b="1">
                <a:solidFill>
                  <a:srgbClr val="3A0F34"/>
                </a:solidFill>
                <a:latin typeface="Georgia"/>
              </a:defRPr>
            </a:pPr>
            <a:r>
              <a:t>100% TEST PASS RATE</a:t>
            </a:r>
          </a:p>
          <a:p>
            <a:pPr algn="ctr">
              <a:defRPr sz="800">
                <a:solidFill>
                  <a:srgbClr val="6E5566"/>
                </a:solidFill>
                <a:latin typeface="Calibri"/>
              </a:defRPr>
            </a:pPr>
            <a:r>
              <a:t>6 / 6 Test Cases Succeeded</a:t>
            </a:r>
          </a:p>
        </p:txBody>
      </p:sp>
      <p:sp>
        <p:nvSpPr>
          <p:cNvPr id="10" name="Rounded Rectangle 9"/>
          <p:cNvSpPr/>
          <p:nvPr/>
        </p:nvSpPr>
        <p:spPr>
          <a:xfrm>
            <a:off x="3453688" y="5833872"/>
            <a:ext cx="2560320" cy="685800"/>
          </a:xfrm>
          <a:prstGeom prst="roundRect">
            <a:avLst/>
          </a:prstGeom>
          <a:solidFill>
            <a:srgbClr val="FFFFFF"/>
          </a:solidFill>
          <a:ln w="1270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5128" y="5879592"/>
            <a:ext cx="2377439" cy="594360"/>
          </a:xfrm>
          <a:prstGeom prst="rect">
            <a:avLst/>
          </a:prstGeom>
          <a:noFill/>
        </p:spPr>
        <p:txBody>
          <a:bodyPr wrap="square" lIns="0" tIns="0" rIns="0" bIns="0">
            <a:spAutoFit/>
          </a:bodyPr>
          <a:lstStyle/>
          <a:p>
            <a:pPr algn="ctr">
              <a:defRPr sz="1000" b="1">
                <a:solidFill>
                  <a:srgbClr val="3A0F34"/>
                </a:solidFill>
                <a:latin typeface="Georgia"/>
              </a:defRPr>
            </a:pPr>
            <a:r>
              <a:t>12.3 ms AVG LATENCY</a:t>
            </a:r>
          </a:p>
          <a:p>
            <a:pPr algn="ctr">
              <a:defRPr sz="800">
                <a:solidFill>
                  <a:srgbClr val="6E5566"/>
                </a:solidFill>
                <a:latin typeface="Calibri"/>
              </a:defRPr>
            </a:pPr>
            <a:r>
              <a:t>Sub-20ms Real-Time Response</a:t>
            </a:r>
          </a:p>
        </p:txBody>
      </p:sp>
      <p:sp>
        <p:nvSpPr>
          <p:cNvPr id="12" name="Rounded Rectangle 11"/>
          <p:cNvSpPr/>
          <p:nvPr/>
        </p:nvSpPr>
        <p:spPr>
          <a:xfrm>
            <a:off x="6175857" y="5833872"/>
            <a:ext cx="2560320" cy="685800"/>
          </a:xfrm>
          <a:prstGeom prst="roundRect">
            <a:avLst/>
          </a:prstGeom>
          <a:solidFill>
            <a:srgbClr val="FFFFFF"/>
          </a:solidFill>
          <a:ln w="1270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7297" y="5879592"/>
            <a:ext cx="2377439" cy="594360"/>
          </a:xfrm>
          <a:prstGeom prst="rect">
            <a:avLst/>
          </a:prstGeom>
          <a:noFill/>
        </p:spPr>
        <p:txBody>
          <a:bodyPr wrap="square" lIns="0" tIns="0" rIns="0" bIns="0">
            <a:spAutoFit/>
          </a:bodyPr>
          <a:lstStyle/>
          <a:p>
            <a:pPr algn="ctr">
              <a:defRPr sz="1000" b="1">
                <a:solidFill>
                  <a:srgbClr val="3A0F34"/>
                </a:solidFill>
                <a:latin typeface="Georgia"/>
              </a:defRPr>
            </a:pPr>
            <a:r>
              <a:t>0 MEMORY LEAKS</a:t>
            </a:r>
          </a:p>
          <a:p>
            <a:pPr algn="ctr">
              <a:defRPr sz="800">
                <a:solidFill>
                  <a:srgbClr val="6E5566"/>
                </a:solidFill>
                <a:latin typeface="Calibri"/>
              </a:defRPr>
            </a:pPr>
            <a:r>
              <a:t>Stable Node.js Event Loop</a:t>
            </a:r>
          </a:p>
        </p:txBody>
      </p:sp>
      <p:sp>
        <p:nvSpPr>
          <p:cNvPr id="14" name="Rounded Rectangle 13"/>
          <p:cNvSpPr/>
          <p:nvPr/>
        </p:nvSpPr>
        <p:spPr>
          <a:xfrm>
            <a:off x="8898026" y="5833872"/>
            <a:ext cx="2560320" cy="685800"/>
          </a:xfrm>
          <a:prstGeom prst="roundRect">
            <a:avLst/>
          </a:prstGeom>
          <a:solidFill>
            <a:srgbClr val="FFFFFF"/>
          </a:solidFill>
          <a:ln w="12700">
            <a:solidFill>
              <a:srgbClr val="3A0F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89466" y="5879592"/>
            <a:ext cx="2377439" cy="594360"/>
          </a:xfrm>
          <a:prstGeom prst="rect">
            <a:avLst/>
          </a:prstGeom>
          <a:noFill/>
        </p:spPr>
        <p:txBody>
          <a:bodyPr wrap="square" lIns="0" tIns="0" rIns="0" bIns="0">
            <a:spAutoFit/>
          </a:bodyPr>
          <a:lstStyle/>
          <a:p>
            <a:pPr algn="ctr">
              <a:defRPr sz="1000" b="1">
                <a:solidFill>
                  <a:srgbClr val="3A0F34"/>
                </a:solidFill>
                <a:latin typeface="Georgia"/>
              </a:defRPr>
            </a:pPr>
            <a:r>
              <a:t>ACID INTEGRITY</a:t>
            </a:r>
          </a:p>
          <a:p>
            <a:pPr algn="ctr">
              <a:defRPr sz="800">
                <a:solidFill>
                  <a:srgbClr val="6E5566"/>
                </a:solidFill>
                <a:latin typeface="Calibri"/>
              </a:defRPr>
            </a:pPr>
            <a:r>
              <a:t>SQLite WAL Mode Protection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0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743200" cy="292608"/>
          </a:xfrm>
          <a:prstGeom prst="roundRect">
            <a:avLst/>
          </a:prstGeom>
          <a:solidFill>
            <a:srgbClr val="C75A3A"/>
          </a:solidFill>
          <a:ln w="9525">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Georgia"/>
              </a:defRPr>
            </a:pPr>
            <a:r>
              <a:t>09 / IMPACT &amp; ROADMAP</a:t>
            </a:r>
          </a:p>
        </p:txBody>
      </p:sp>
      <p:sp>
        <p:nvSpPr>
          <p:cNvPr id="4" name="Rounded Rectangle 3"/>
          <p:cNvSpPr/>
          <p:nvPr/>
        </p:nvSpPr>
        <p:spPr>
          <a:xfrm>
            <a:off x="8686800" y="384048"/>
            <a:ext cx="2773375" cy="292608"/>
          </a:xfrm>
          <a:prstGeom prst="roundRect">
            <a:avLst/>
          </a:prstGeom>
          <a:solidFill>
            <a:srgbClr val="F5EC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3A0F34"/>
                </a:solidFill>
                <a:latin typeface="Georgia"/>
              </a:defRPr>
            </a:pPr>
            <a:r>
              <a:t>COMMUNITY HERO • IIIT BHOPAL</a:t>
            </a:r>
          </a:p>
        </p:txBody>
      </p:sp>
      <p:sp>
        <p:nvSpPr>
          <p:cNvPr id="5" name="TextBox 4"/>
          <p:cNvSpPr txBox="1"/>
          <p:nvPr/>
        </p:nvSpPr>
        <p:spPr>
          <a:xfrm>
            <a:off x="731520" y="731520"/>
            <a:ext cx="10728655" cy="777240"/>
          </a:xfrm>
          <a:prstGeom prst="rect">
            <a:avLst/>
          </a:prstGeom>
          <a:noFill/>
        </p:spPr>
        <p:txBody>
          <a:bodyPr wrap="square" lIns="0" tIns="0" rIns="0" bIns="0">
            <a:spAutoFit/>
          </a:bodyPr>
          <a:lstStyle/>
          <a:p>
            <a:pPr>
              <a:defRPr sz="2200" b="1">
                <a:solidFill>
                  <a:srgbClr val="FFFFFF"/>
                </a:solidFill>
                <a:latin typeface="Georgia"/>
              </a:defRPr>
            </a:pPr>
            <a:r>
              <a:t>Civic Impact, Municipal Action &amp; Conclusion</a:t>
            </a:r>
          </a:p>
          <a:p>
            <a:pPr>
              <a:defRPr sz="1100">
                <a:solidFill>
                  <a:srgbClr val="C9A0A7"/>
                </a:solidFill>
                <a:latin typeface="Calibri"/>
              </a:defRPr>
            </a:pPr>
            <a:r>
              <a:t>Quantified municipal benefits, Phase IV vision, and formal project defense closing</a:t>
            </a:r>
          </a:p>
        </p:txBody>
      </p:sp>
      <p:sp>
        <p:nvSpPr>
          <p:cNvPr id="6" name="Rounded Rectangle 5"/>
          <p:cNvSpPr/>
          <p:nvPr/>
        </p:nvSpPr>
        <p:spPr>
          <a:xfrm>
            <a:off x="731520" y="1691640"/>
            <a:ext cx="4754880" cy="4709160"/>
          </a:xfrm>
          <a:prstGeom prst="roundRect">
            <a:avLst/>
          </a:prstGeom>
          <a:solidFill>
            <a:srgbClr val="3A0F34"/>
          </a:solidFill>
          <a:ln w="1270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repair_work.jpg"/>
          <p:cNvPicPr>
            <a:picLocks noChangeAspect="1"/>
          </p:cNvPicPr>
          <p:nvPr/>
        </p:nvPicPr>
        <p:blipFill>
          <a:blip r:embed="rId2"/>
          <a:stretch>
            <a:fillRect/>
          </a:stretch>
        </p:blipFill>
        <p:spPr>
          <a:xfrm>
            <a:off x="868680" y="1828800"/>
            <a:ext cx="4480560" cy="3291840"/>
          </a:xfrm>
          <a:prstGeom prst="rect">
            <a:avLst/>
          </a:prstGeom>
        </p:spPr>
      </p:pic>
      <p:sp>
        <p:nvSpPr>
          <p:cNvPr id="8" name="TextBox 7"/>
          <p:cNvSpPr txBox="1"/>
          <p:nvPr/>
        </p:nvSpPr>
        <p:spPr>
          <a:xfrm>
            <a:off x="868680" y="5257800"/>
            <a:ext cx="4480560" cy="1005840"/>
          </a:xfrm>
          <a:prstGeom prst="rect">
            <a:avLst/>
          </a:prstGeom>
          <a:noFill/>
        </p:spPr>
        <p:txBody>
          <a:bodyPr wrap="square">
            <a:spAutoFit/>
          </a:bodyPr>
          <a:lstStyle/>
          <a:p>
            <a:pPr>
              <a:defRPr sz="1000" b="1">
                <a:solidFill>
                  <a:srgbClr val="C75A3A"/>
                </a:solidFill>
                <a:latin typeface="Georgia"/>
              </a:defRPr>
            </a:pPr>
            <a:r>
              <a:t>CLOSING THE CIVIC LOOP: MUNICIPAL ACTION</a:t>
            </a:r>
          </a:p>
          <a:p>
            <a:pPr>
              <a:defRPr sz="900">
                <a:solidFill>
                  <a:srgbClr val="C9A0A7"/>
                </a:solidFill>
                <a:latin typeface="Calibri"/>
              </a:defRPr>
            </a:pPr>
            <a:r>
              <a:t>Municipal public works road crew paves and finishes an asphalt patch in an urban ward. The resolved status triggers a real-time SSE push, turning the map pin green.</a:t>
            </a:r>
          </a:p>
        </p:txBody>
      </p:sp>
      <p:sp>
        <p:nvSpPr>
          <p:cNvPr id="9" name="Rounded Rectangle 8"/>
          <p:cNvSpPr/>
          <p:nvPr/>
        </p:nvSpPr>
        <p:spPr>
          <a:xfrm>
            <a:off x="5715000" y="1691640"/>
            <a:ext cx="5742432" cy="1965960"/>
          </a:xfrm>
          <a:prstGeom prst="roundRect">
            <a:avLst/>
          </a:prstGeom>
          <a:solidFill>
            <a:srgbClr val="300C2B"/>
          </a:solidFill>
          <a:ln w="1270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97880" y="1783080"/>
            <a:ext cx="5376672" cy="1783080"/>
          </a:xfrm>
          <a:prstGeom prst="rect">
            <a:avLst/>
          </a:prstGeom>
          <a:noFill/>
        </p:spPr>
        <p:txBody>
          <a:bodyPr wrap="square" lIns="0" tIns="0" rIns="0" bIns="0">
            <a:spAutoFit/>
          </a:bodyPr>
          <a:lstStyle/>
          <a:p>
            <a:pPr>
              <a:defRPr sz="1100" b="1">
                <a:solidFill>
                  <a:srgbClr val="C75A3A"/>
                </a:solidFill>
                <a:latin typeface="Georgia"/>
              </a:defRPr>
            </a:pPr>
            <a:r>
              <a:t>DEMONSTRATED CIVIC IMPACT</a:t>
            </a:r>
          </a:p>
          <a:p>
            <a:pPr>
              <a:spcBef>
                <a:spcPts val="300"/>
              </a:spcBef>
              <a:defRPr sz="880">
                <a:solidFill>
                  <a:srgbClr val="C9A0A7"/>
                </a:solidFill>
                <a:latin typeface="Calibri"/>
              </a:defRPr>
            </a:pPr>
            <a:r>
              <a:t>• 42% Reduction in Duplicate Dispatch: Spatial clustering stops redundant inspection vans.</a:t>
            </a:r>
            <a:br/>
            <a:r>
              <a:t>• 3.8x Faster Ticket Resolution: Automated ML triage eliminates manual ticket routing delays.</a:t>
            </a:r>
            <a:br/>
            <a:r>
              <a:t>• 100% Free &amp; Self-Hosted: Operates without paid cloud API tokens or vendor lock-in.</a:t>
            </a:r>
            <a:br/>
            <a:r>
              <a:t>• Increased Public Trust: Live map visibility and civic XP badges boost citizen participation.</a:t>
            </a:r>
          </a:p>
        </p:txBody>
      </p:sp>
      <p:sp>
        <p:nvSpPr>
          <p:cNvPr id="11" name="Rounded Rectangle 10"/>
          <p:cNvSpPr/>
          <p:nvPr/>
        </p:nvSpPr>
        <p:spPr>
          <a:xfrm>
            <a:off x="5715000" y="3794760"/>
            <a:ext cx="5742432" cy="1371600"/>
          </a:xfrm>
          <a:prstGeom prst="roundRect">
            <a:avLst/>
          </a:prstGeom>
          <a:solidFill>
            <a:srgbClr val="300C2B"/>
          </a:solidFill>
          <a:ln w="12700">
            <a:solidFill>
              <a:srgbClr val="C9A0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3886200"/>
            <a:ext cx="5376672" cy="1188720"/>
          </a:xfrm>
          <a:prstGeom prst="rect">
            <a:avLst/>
          </a:prstGeom>
          <a:noFill/>
        </p:spPr>
        <p:txBody>
          <a:bodyPr wrap="square" lIns="0" tIns="0" rIns="0" bIns="0">
            <a:spAutoFit/>
          </a:bodyPr>
          <a:lstStyle/>
          <a:p>
            <a:pPr>
              <a:defRPr sz="1100" b="1">
                <a:solidFill>
                  <a:srgbClr val="FAF5F2"/>
                </a:solidFill>
                <a:latin typeface="Georgia"/>
              </a:defRPr>
            </a:pPr>
            <a:r>
              <a:t>PHASE IV DEVELOPMENT ROADMAP</a:t>
            </a:r>
          </a:p>
          <a:p>
            <a:pPr>
              <a:spcBef>
                <a:spcPts val="300"/>
              </a:spcBef>
              <a:defRPr sz="880">
                <a:solidFill>
                  <a:srgbClr val="C9A0A7"/>
                </a:solidFill>
                <a:latin typeface="Calibri"/>
              </a:defRPr>
            </a:pPr>
            <a:r>
              <a:t>1. Mobile App (React Native): Native camera integration, offline SQLite sync, push alerts.</a:t>
            </a:r>
            <a:br/>
            <a:r>
              <a:t>2. Bus-Mounted Edge YOLO Vision: City buses equipped with cameras to auto-detect potholes.</a:t>
            </a:r>
            <a:br/>
            <a:r>
              <a:t>3. Multilingual NLP Expansion: Training models for Marathi, Bengali, and Tamil complaints.</a:t>
            </a:r>
          </a:p>
        </p:txBody>
      </p:sp>
      <p:sp>
        <p:nvSpPr>
          <p:cNvPr id="13" name="Rounded Rectangle 12"/>
          <p:cNvSpPr/>
          <p:nvPr/>
        </p:nvSpPr>
        <p:spPr>
          <a:xfrm>
            <a:off x="5715000" y="5303520"/>
            <a:ext cx="5742432" cy="1097280"/>
          </a:xfrm>
          <a:prstGeom prst="roundRect">
            <a:avLst/>
          </a:prstGeom>
          <a:solidFill>
            <a:srgbClr val="300C2B"/>
          </a:solidFill>
          <a:ln w="15240">
            <a:solidFill>
              <a:srgbClr val="C75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5394960"/>
            <a:ext cx="5376672" cy="914400"/>
          </a:xfrm>
          <a:prstGeom prst="rect">
            <a:avLst/>
          </a:prstGeom>
          <a:noFill/>
        </p:spPr>
        <p:txBody>
          <a:bodyPr wrap="square" lIns="0" tIns="0" rIns="0" bIns="0">
            <a:spAutoFit/>
          </a:bodyPr>
          <a:lstStyle/>
          <a:p>
            <a:pPr algn="ctr">
              <a:defRPr sz="1100" b="1">
                <a:solidFill>
                  <a:srgbClr val="C75A3A"/>
                </a:solidFill>
                <a:latin typeface="Georgia"/>
              </a:defRPr>
            </a:pPr>
            <a:r>
              <a:t>THANK YOU! WE WELCOME JURY QUESTIONS &amp; FEEDBACK</a:t>
            </a:r>
          </a:p>
          <a:p>
            <a:pPr algn="ctr">
              <a:spcBef>
                <a:spcPts val="300"/>
              </a:spcBef>
              <a:defRPr sz="900">
                <a:solidFill>
                  <a:srgbClr val="FAF5F2"/>
                </a:solidFill>
                <a:latin typeface="Calibri"/>
              </a:defRPr>
            </a:pPr>
            <a:r>
              <a:t>Aarush Bharti (24U020010) &amp; Ashish Goutam (24U020011) | CSE, IIIT Bhopal</a:t>
            </a:r>
            <a:br/>
            <a:r>
              <a:t>Project Supervisor: Dr. Sreemoyee Biswas, Assistant Professor | 20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